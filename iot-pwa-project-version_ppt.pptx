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33" r:id="rId1"/>
  </p:sldMasterIdLst>
  <p:notesMasterIdLst>
    <p:notesMasterId r:id="rId25"/>
  </p:notesMasterIdLst>
  <p:sldIdLst>
    <p:sldId id="256" r:id="rId2"/>
    <p:sldId id="257" r:id="rId3"/>
    <p:sldId id="300" r:id="rId4"/>
    <p:sldId id="281" r:id="rId5"/>
    <p:sldId id="266" r:id="rId6"/>
    <p:sldId id="258" r:id="rId7"/>
    <p:sldId id="298" r:id="rId8"/>
    <p:sldId id="283" r:id="rId9"/>
    <p:sldId id="282" r:id="rId10"/>
    <p:sldId id="260" r:id="rId11"/>
    <p:sldId id="261" r:id="rId12"/>
    <p:sldId id="284" r:id="rId13"/>
    <p:sldId id="259" r:id="rId14"/>
    <p:sldId id="286" r:id="rId15"/>
    <p:sldId id="287" r:id="rId16"/>
    <p:sldId id="288" r:id="rId17"/>
    <p:sldId id="289" r:id="rId18"/>
    <p:sldId id="291" r:id="rId19"/>
    <p:sldId id="295" r:id="rId20"/>
    <p:sldId id="301" r:id="rId21"/>
    <p:sldId id="297" r:id="rId22"/>
    <p:sldId id="303" r:id="rId23"/>
    <p:sldId id="302" r:id="rId24"/>
  </p:sldIdLst>
  <p:sldSz cx="18288000" cy="10287000"/>
  <p:notesSz cx="6858000" cy="9144000"/>
  <p:embeddedFontLst>
    <p:embeddedFont>
      <p:font typeface="Bradley Hand ITC" panose="03070402050302030203" pitchFamily="66" charset="0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entury" panose="02040604050505020304" pitchFamily="18" charset="0"/>
      <p:regular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Montserrat" panose="00000500000000000000" pitchFamily="2" charset="0"/>
      <p:regular r:id="rId36"/>
      <p:bold r:id="rId37"/>
      <p:italic r:id="rId38"/>
      <p:boldItalic r:id="rId39"/>
    </p:embeddedFont>
    <p:embeddedFont>
      <p:font typeface="Oswald Bold" panose="02010600030101010101" charset="0"/>
      <p:regular r:id="rId40"/>
    </p:embeddedFont>
    <p:embeddedFont>
      <p:font typeface="Wingdings 3" panose="05040102010807070707" pitchFamily="18" charset="2"/>
      <p:regular r:id="rId4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28B1B5-025A-4BAB-87B9-3A50678B70C1}">
          <p14:sldIdLst>
            <p14:sldId id="256"/>
          </p14:sldIdLst>
        </p14:section>
        <p14:section name="Préliminaires" id="{FED75D34-64B4-4D00-9C5B-B4BEDF129740}">
          <p14:sldIdLst>
            <p14:sldId id="257"/>
            <p14:sldId id="300"/>
            <p14:sldId id="281"/>
            <p14:sldId id="266"/>
            <p14:sldId id="258"/>
            <p14:sldId id="298"/>
          </p14:sldIdLst>
        </p14:section>
        <p14:section name="Contenu" id="{9264CEEE-7467-4027-B0E3-C35D8B087A9B}">
          <p14:sldIdLst>
            <p14:sldId id="283"/>
            <p14:sldId id="282"/>
            <p14:sldId id="260"/>
            <p14:sldId id="261"/>
            <p14:sldId id="284"/>
            <p14:sldId id="259"/>
            <p14:sldId id="286"/>
            <p14:sldId id="287"/>
            <p14:sldId id="288"/>
            <p14:sldId id="289"/>
            <p14:sldId id="291"/>
            <p14:sldId id="295"/>
            <p14:sldId id="301"/>
            <p14:sldId id="297"/>
            <p14:sldId id="303"/>
          </p14:sldIdLst>
        </p14:section>
        <p14:section name="Untitled Section" id="{5E397B15-3D88-4AA0-8D66-330584BD50EF}">
          <p14:sldIdLst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DC"/>
    <a:srgbClr val="000000"/>
    <a:srgbClr val="F9E2D7"/>
    <a:srgbClr val="F6EEEE"/>
    <a:srgbClr val="ECE0D0"/>
    <a:srgbClr val="77933C"/>
    <a:srgbClr val="FAF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2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4A79F5-4D9A-444A-A5C6-42A71CA46916}" type="doc">
      <dgm:prSet loTypeId="urn:microsoft.com/office/officeart/2005/8/layout/bProcess3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fr-FR"/>
        </a:p>
      </dgm:t>
    </dgm:pt>
    <dgm:pt modelId="{12CF3183-5509-4897-833B-715EE3398177}">
      <dgm:prSet phldrT="[Text]"/>
      <dgm:spPr/>
      <dgm:t>
        <a:bodyPr/>
        <a:lstStyle/>
        <a:p>
          <a:r>
            <a:rPr lang="fr-FR" b="1" dirty="0"/>
            <a:t>Initialisation</a:t>
          </a:r>
          <a:r>
            <a:rPr lang="fr-FR" dirty="0"/>
            <a:t> </a:t>
          </a:r>
        </a:p>
      </dgm:t>
    </dgm:pt>
    <dgm:pt modelId="{9A69DDA0-5F71-417E-B122-4B6DC0AFDC1D}" type="parTrans" cxnId="{9641EBF0-6C6F-4961-AC30-AD3265BAC71B}">
      <dgm:prSet/>
      <dgm:spPr/>
      <dgm:t>
        <a:bodyPr/>
        <a:lstStyle/>
        <a:p>
          <a:endParaRPr lang="fr-FR"/>
        </a:p>
      </dgm:t>
    </dgm:pt>
    <dgm:pt modelId="{E909F96E-7E19-4242-876E-86C48B0106AF}" type="sibTrans" cxnId="{9641EBF0-6C6F-4961-AC30-AD3265BAC71B}">
      <dgm:prSet/>
      <dgm:spPr/>
      <dgm:t>
        <a:bodyPr/>
        <a:lstStyle/>
        <a:p>
          <a:endParaRPr lang="fr-FR"/>
        </a:p>
      </dgm:t>
    </dgm:pt>
    <dgm:pt modelId="{FAD6FCEB-938C-409D-990B-E80D05F19EA8}">
      <dgm:prSet phldrT="[Text]"/>
      <dgm:spPr/>
      <dgm:t>
        <a:bodyPr/>
        <a:lstStyle/>
        <a:p>
          <a:r>
            <a:rPr lang="fr-FR" b="1" dirty="0"/>
            <a:t>Attente d’ordre</a:t>
          </a:r>
        </a:p>
      </dgm:t>
    </dgm:pt>
    <dgm:pt modelId="{FF4BFAD0-F0A2-4392-B50B-71809451BD42}" type="parTrans" cxnId="{EB8F3AF7-B985-44D6-9103-8FE52C46C9C3}">
      <dgm:prSet/>
      <dgm:spPr/>
      <dgm:t>
        <a:bodyPr/>
        <a:lstStyle/>
        <a:p>
          <a:endParaRPr lang="fr-FR"/>
        </a:p>
      </dgm:t>
    </dgm:pt>
    <dgm:pt modelId="{E83D814B-924B-46B8-8130-2EA9E8B527CD}" type="sibTrans" cxnId="{EB8F3AF7-B985-44D6-9103-8FE52C46C9C3}">
      <dgm:prSet/>
      <dgm:spPr/>
      <dgm:t>
        <a:bodyPr/>
        <a:lstStyle/>
        <a:p>
          <a:endParaRPr lang="fr-FR"/>
        </a:p>
      </dgm:t>
    </dgm:pt>
    <dgm:pt modelId="{828F3A1B-ED0A-4EBC-8684-3789B4A13B62}">
      <dgm:prSet phldrT="[Text]"/>
      <dgm:spPr/>
      <dgm:t>
        <a:bodyPr/>
        <a:lstStyle/>
        <a:p>
          <a:r>
            <a:rPr lang="fr-FR" b="1" dirty="0"/>
            <a:t>Acquisition</a:t>
          </a:r>
          <a:r>
            <a:rPr lang="fr-FR" dirty="0"/>
            <a:t> </a:t>
          </a:r>
        </a:p>
      </dgm:t>
    </dgm:pt>
    <dgm:pt modelId="{6FC990E7-41AA-46F7-A413-828729A69868}" type="parTrans" cxnId="{06C1C490-3254-4402-AB0D-7CD6ADEDC1A0}">
      <dgm:prSet/>
      <dgm:spPr/>
      <dgm:t>
        <a:bodyPr/>
        <a:lstStyle/>
        <a:p>
          <a:endParaRPr lang="fr-FR"/>
        </a:p>
      </dgm:t>
    </dgm:pt>
    <dgm:pt modelId="{C4E0782A-C018-4C65-9C12-DF0BEA8C28D8}" type="sibTrans" cxnId="{06C1C490-3254-4402-AB0D-7CD6ADEDC1A0}">
      <dgm:prSet/>
      <dgm:spPr/>
      <dgm:t>
        <a:bodyPr/>
        <a:lstStyle/>
        <a:p>
          <a:endParaRPr lang="fr-FR"/>
        </a:p>
      </dgm:t>
    </dgm:pt>
    <dgm:pt modelId="{351E99ED-D7AC-4F50-80DD-D1D5A0020585}">
      <dgm:prSet phldrT="[Text]"/>
      <dgm:spPr/>
      <dgm:t>
        <a:bodyPr/>
        <a:lstStyle/>
        <a:p>
          <a:r>
            <a:rPr lang="fr-FR" b="1" dirty="0"/>
            <a:t>Envoi Série</a:t>
          </a:r>
          <a:r>
            <a:rPr lang="fr-FR" dirty="0"/>
            <a:t> </a:t>
          </a:r>
        </a:p>
      </dgm:t>
    </dgm:pt>
    <dgm:pt modelId="{7CB22FF3-49D8-4242-8B9B-292C23DC5BD6}" type="parTrans" cxnId="{805C593D-CD39-49BB-A2B8-04B3500B3AF7}">
      <dgm:prSet/>
      <dgm:spPr/>
      <dgm:t>
        <a:bodyPr/>
        <a:lstStyle/>
        <a:p>
          <a:endParaRPr lang="fr-FR"/>
        </a:p>
      </dgm:t>
    </dgm:pt>
    <dgm:pt modelId="{17D476E1-F26B-46A3-95A3-17AC14D8E1BE}" type="sibTrans" cxnId="{805C593D-CD39-49BB-A2B8-04B3500B3AF7}">
      <dgm:prSet/>
      <dgm:spPr/>
      <dgm:t>
        <a:bodyPr/>
        <a:lstStyle/>
        <a:p>
          <a:endParaRPr lang="fr-FR"/>
        </a:p>
      </dgm:t>
    </dgm:pt>
    <dgm:pt modelId="{6CBCF1CB-3D2B-45A0-9E47-BA9078C4FD2F}">
      <dgm:prSet phldrT="[Text]"/>
      <dgm:spPr/>
      <dgm:t>
        <a:bodyPr/>
        <a:lstStyle/>
        <a:p>
          <a:r>
            <a:rPr lang="fr-FR" b="1" dirty="0"/>
            <a:t>Temporisation</a:t>
          </a:r>
          <a:r>
            <a:rPr lang="fr-FR" dirty="0"/>
            <a:t> </a:t>
          </a:r>
        </a:p>
        <a:p>
          <a:r>
            <a:rPr lang="fr-FR" dirty="0"/>
            <a:t>(5 s dans notre cas)</a:t>
          </a:r>
        </a:p>
        <a:p>
          <a:endParaRPr lang="fr-FR" dirty="0"/>
        </a:p>
      </dgm:t>
    </dgm:pt>
    <dgm:pt modelId="{2F2CB05D-A15E-45C9-B734-14BCE177FD33}" type="parTrans" cxnId="{CF76258C-2DF8-4025-82E9-9EBD0FBEFD19}">
      <dgm:prSet/>
      <dgm:spPr/>
      <dgm:t>
        <a:bodyPr/>
        <a:lstStyle/>
        <a:p>
          <a:endParaRPr lang="fr-FR"/>
        </a:p>
      </dgm:t>
    </dgm:pt>
    <dgm:pt modelId="{357794DF-F718-4F7C-BD5C-78567C1FF15B}" type="sibTrans" cxnId="{CF76258C-2DF8-4025-82E9-9EBD0FBEFD19}">
      <dgm:prSet/>
      <dgm:spPr/>
      <dgm:t>
        <a:bodyPr/>
        <a:lstStyle/>
        <a:p>
          <a:endParaRPr lang="fr-FR"/>
        </a:p>
      </dgm:t>
    </dgm:pt>
    <dgm:pt modelId="{9D3B19B4-00F0-4D89-BD57-979802D53014}" type="pres">
      <dgm:prSet presAssocID="{9D4A79F5-4D9A-444A-A5C6-42A71CA46916}" presName="Name0" presStyleCnt="0">
        <dgm:presLayoutVars>
          <dgm:dir/>
          <dgm:resizeHandles val="exact"/>
        </dgm:presLayoutVars>
      </dgm:prSet>
      <dgm:spPr/>
    </dgm:pt>
    <dgm:pt modelId="{37C41069-5968-40F0-8C1E-F6A96DD917FC}" type="pres">
      <dgm:prSet presAssocID="{12CF3183-5509-4897-833B-715EE3398177}" presName="node" presStyleLbl="node1" presStyleIdx="0" presStyleCnt="5" custLinFactNeighborX="874" custLinFactNeighborY="-8244">
        <dgm:presLayoutVars>
          <dgm:bulletEnabled val="1"/>
        </dgm:presLayoutVars>
      </dgm:prSet>
      <dgm:spPr/>
    </dgm:pt>
    <dgm:pt modelId="{8CA9B7D9-2A10-4BA4-867B-28CEC6AA37F8}" type="pres">
      <dgm:prSet presAssocID="{E909F96E-7E19-4242-876E-86C48B0106AF}" presName="sibTrans" presStyleLbl="sibTrans1D1" presStyleIdx="0" presStyleCnt="4"/>
      <dgm:spPr/>
    </dgm:pt>
    <dgm:pt modelId="{FFD2FAFE-8A68-4108-874B-4C4A096D51B8}" type="pres">
      <dgm:prSet presAssocID="{E909F96E-7E19-4242-876E-86C48B0106AF}" presName="connectorText" presStyleLbl="sibTrans1D1" presStyleIdx="0" presStyleCnt="4"/>
      <dgm:spPr/>
    </dgm:pt>
    <dgm:pt modelId="{431ACDBB-8AA7-4457-B569-F49E513A9998}" type="pres">
      <dgm:prSet presAssocID="{FAD6FCEB-938C-409D-990B-E80D05F19EA8}" presName="node" presStyleLbl="node1" presStyleIdx="1" presStyleCnt="5" custLinFactNeighborX="-4524" custLinFactNeighborY="-8244">
        <dgm:presLayoutVars>
          <dgm:bulletEnabled val="1"/>
        </dgm:presLayoutVars>
      </dgm:prSet>
      <dgm:spPr/>
    </dgm:pt>
    <dgm:pt modelId="{2B16C85D-48A0-4BBA-AE9D-A48BF24A1FB0}" type="pres">
      <dgm:prSet presAssocID="{E83D814B-924B-46B8-8130-2EA9E8B527CD}" presName="sibTrans" presStyleLbl="sibTrans1D1" presStyleIdx="1" presStyleCnt="4"/>
      <dgm:spPr/>
    </dgm:pt>
    <dgm:pt modelId="{E991480F-3040-41D7-9DF7-6B3283F57D47}" type="pres">
      <dgm:prSet presAssocID="{E83D814B-924B-46B8-8130-2EA9E8B527CD}" presName="connectorText" presStyleLbl="sibTrans1D1" presStyleIdx="1" presStyleCnt="4"/>
      <dgm:spPr/>
    </dgm:pt>
    <dgm:pt modelId="{4235F461-14DF-468C-B3EE-99BB4B562255}" type="pres">
      <dgm:prSet presAssocID="{828F3A1B-ED0A-4EBC-8684-3789B4A13B62}" presName="node" presStyleLbl="node1" presStyleIdx="2" presStyleCnt="5" custLinFactNeighborX="911" custLinFactNeighborY="-8244">
        <dgm:presLayoutVars>
          <dgm:bulletEnabled val="1"/>
        </dgm:presLayoutVars>
      </dgm:prSet>
      <dgm:spPr/>
    </dgm:pt>
    <dgm:pt modelId="{20FA61F8-8B86-46BF-993E-4C2301736BA6}" type="pres">
      <dgm:prSet presAssocID="{C4E0782A-C018-4C65-9C12-DF0BEA8C28D8}" presName="sibTrans" presStyleLbl="sibTrans1D1" presStyleIdx="2" presStyleCnt="4"/>
      <dgm:spPr/>
    </dgm:pt>
    <dgm:pt modelId="{3D44B178-6AA0-44D1-BEB4-AF1FA7FFEA84}" type="pres">
      <dgm:prSet presAssocID="{C4E0782A-C018-4C65-9C12-DF0BEA8C28D8}" presName="connectorText" presStyleLbl="sibTrans1D1" presStyleIdx="2" presStyleCnt="4"/>
      <dgm:spPr/>
    </dgm:pt>
    <dgm:pt modelId="{6429DD0F-841E-4D48-9AA2-3D0016FEA126}" type="pres">
      <dgm:prSet presAssocID="{351E99ED-D7AC-4F50-80DD-D1D5A0020585}" presName="node" presStyleLbl="node1" presStyleIdx="3" presStyleCnt="5" custLinFactNeighborX="13563" custLinFactNeighborY="24574">
        <dgm:presLayoutVars>
          <dgm:bulletEnabled val="1"/>
        </dgm:presLayoutVars>
      </dgm:prSet>
      <dgm:spPr/>
    </dgm:pt>
    <dgm:pt modelId="{BEFE3ED8-2F53-4B7F-B9F8-B41BBC6FE38E}" type="pres">
      <dgm:prSet presAssocID="{17D476E1-F26B-46A3-95A3-17AC14D8E1BE}" presName="sibTrans" presStyleLbl="sibTrans1D1" presStyleIdx="3" presStyleCnt="4"/>
      <dgm:spPr/>
    </dgm:pt>
    <dgm:pt modelId="{742659E3-0A1C-48AE-AC7F-920E0AC0E356}" type="pres">
      <dgm:prSet presAssocID="{17D476E1-F26B-46A3-95A3-17AC14D8E1BE}" presName="connectorText" presStyleLbl="sibTrans1D1" presStyleIdx="3" presStyleCnt="4"/>
      <dgm:spPr/>
    </dgm:pt>
    <dgm:pt modelId="{8D6A2141-F9F1-40FB-8BB9-A7D78F806122}" type="pres">
      <dgm:prSet presAssocID="{6CBCF1CB-3D2B-45A0-9E47-BA9078C4FD2F}" presName="node" presStyleLbl="node1" presStyleIdx="4" presStyleCnt="5" custLinFactNeighborX="80291" custLinFactNeighborY="24587">
        <dgm:presLayoutVars>
          <dgm:bulletEnabled val="1"/>
        </dgm:presLayoutVars>
      </dgm:prSet>
      <dgm:spPr/>
    </dgm:pt>
  </dgm:ptLst>
  <dgm:cxnLst>
    <dgm:cxn modelId="{5F40B126-E9EB-4DDA-8DDA-7A7A29D2D0C1}" type="presOf" srcId="{9D4A79F5-4D9A-444A-A5C6-42A71CA46916}" destId="{9D3B19B4-00F0-4D89-BD57-979802D53014}" srcOrd="0" destOrd="0" presId="urn:microsoft.com/office/officeart/2005/8/layout/bProcess3"/>
    <dgm:cxn modelId="{4277A52E-996E-432A-A004-BE72C9924C0F}" type="presOf" srcId="{C4E0782A-C018-4C65-9C12-DF0BEA8C28D8}" destId="{20FA61F8-8B86-46BF-993E-4C2301736BA6}" srcOrd="0" destOrd="0" presId="urn:microsoft.com/office/officeart/2005/8/layout/bProcess3"/>
    <dgm:cxn modelId="{B063842F-2888-443D-8141-8ABA90888587}" type="presOf" srcId="{17D476E1-F26B-46A3-95A3-17AC14D8E1BE}" destId="{742659E3-0A1C-48AE-AC7F-920E0AC0E356}" srcOrd="1" destOrd="0" presId="urn:microsoft.com/office/officeart/2005/8/layout/bProcess3"/>
    <dgm:cxn modelId="{805C593D-CD39-49BB-A2B8-04B3500B3AF7}" srcId="{9D4A79F5-4D9A-444A-A5C6-42A71CA46916}" destId="{351E99ED-D7AC-4F50-80DD-D1D5A0020585}" srcOrd="3" destOrd="0" parTransId="{7CB22FF3-49D8-4242-8B9B-292C23DC5BD6}" sibTransId="{17D476E1-F26B-46A3-95A3-17AC14D8E1BE}"/>
    <dgm:cxn modelId="{4241DA5C-F5BA-4C28-A616-C19523DB0335}" type="presOf" srcId="{E909F96E-7E19-4242-876E-86C48B0106AF}" destId="{FFD2FAFE-8A68-4108-874B-4C4A096D51B8}" srcOrd="1" destOrd="0" presId="urn:microsoft.com/office/officeart/2005/8/layout/bProcess3"/>
    <dgm:cxn modelId="{F35B467E-F35C-4B35-BC4D-80B8509380B8}" type="presOf" srcId="{C4E0782A-C018-4C65-9C12-DF0BEA8C28D8}" destId="{3D44B178-6AA0-44D1-BEB4-AF1FA7FFEA84}" srcOrd="1" destOrd="0" presId="urn:microsoft.com/office/officeart/2005/8/layout/bProcess3"/>
    <dgm:cxn modelId="{88F8BD87-8975-4AC7-803A-8470D6914A96}" type="presOf" srcId="{17D476E1-F26B-46A3-95A3-17AC14D8E1BE}" destId="{BEFE3ED8-2F53-4B7F-B9F8-B41BBC6FE38E}" srcOrd="0" destOrd="0" presId="urn:microsoft.com/office/officeart/2005/8/layout/bProcess3"/>
    <dgm:cxn modelId="{9F1DB088-ED93-424F-9D90-75867CB25878}" type="presOf" srcId="{FAD6FCEB-938C-409D-990B-E80D05F19EA8}" destId="{431ACDBB-8AA7-4457-B569-F49E513A9998}" srcOrd="0" destOrd="0" presId="urn:microsoft.com/office/officeart/2005/8/layout/bProcess3"/>
    <dgm:cxn modelId="{CF76258C-2DF8-4025-82E9-9EBD0FBEFD19}" srcId="{9D4A79F5-4D9A-444A-A5C6-42A71CA46916}" destId="{6CBCF1CB-3D2B-45A0-9E47-BA9078C4FD2F}" srcOrd="4" destOrd="0" parTransId="{2F2CB05D-A15E-45C9-B734-14BCE177FD33}" sibTransId="{357794DF-F718-4F7C-BD5C-78567C1FF15B}"/>
    <dgm:cxn modelId="{06C1C490-3254-4402-AB0D-7CD6ADEDC1A0}" srcId="{9D4A79F5-4D9A-444A-A5C6-42A71CA46916}" destId="{828F3A1B-ED0A-4EBC-8684-3789B4A13B62}" srcOrd="2" destOrd="0" parTransId="{6FC990E7-41AA-46F7-A413-828729A69868}" sibTransId="{C4E0782A-C018-4C65-9C12-DF0BEA8C28D8}"/>
    <dgm:cxn modelId="{C5318EA5-AA60-440D-84C1-68A0676C0B59}" type="presOf" srcId="{12CF3183-5509-4897-833B-715EE3398177}" destId="{37C41069-5968-40F0-8C1E-F6A96DD917FC}" srcOrd="0" destOrd="0" presId="urn:microsoft.com/office/officeart/2005/8/layout/bProcess3"/>
    <dgm:cxn modelId="{09839BC1-9D56-4C03-8FE6-105C78DE4856}" type="presOf" srcId="{E83D814B-924B-46B8-8130-2EA9E8B527CD}" destId="{2B16C85D-48A0-4BBA-AE9D-A48BF24A1FB0}" srcOrd="0" destOrd="0" presId="urn:microsoft.com/office/officeart/2005/8/layout/bProcess3"/>
    <dgm:cxn modelId="{6BD45FC9-E299-4AF2-8D3B-7C82A7F608D0}" type="presOf" srcId="{351E99ED-D7AC-4F50-80DD-D1D5A0020585}" destId="{6429DD0F-841E-4D48-9AA2-3D0016FEA126}" srcOrd="0" destOrd="0" presId="urn:microsoft.com/office/officeart/2005/8/layout/bProcess3"/>
    <dgm:cxn modelId="{A4B5E3DE-5279-4E1E-92A2-DF1B8E02F014}" type="presOf" srcId="{6CBCF1CB-3D2B-45A0-9E47-BA9078C4FD2F}" destId="{8D6A2141-F9F1-40FB-8BB9-A7D78F806122}" srcOrd="0" destOrd="0" presId="urn:microsoft.com/office/officeart/2005/8/layout/bProcess3"/>
    <dgm:cxn modelId="{F339ABEB-A15B-4422-BC4E-CB2B42E329CC}" type="presOf" srcId="{E83D814B-924B-46B8-8130-2EA9E8B527CD}" destId="{E991480F-3040-41D7-9DF7-6B3283F57D47}" srcOrd="1" destOrd="0" presId="urn:microsoft.com/office/officeart/2005/8/layout/bProcess3"/>
    <dgm:cxn modelId="{9641EBF0-6C6F-4961-AC30-AD3265BAC71B}" srcId="{9D4A79F5-4D9A-444A-A5C6-42A71CA46916}" destId="{12CF3183-5509-4897-833B-715EE3398177}" srcOrd="0" destOrd="0" parTransId="{9A69DDA0-5F71-417E-B122-4B6DC0AFDC1D}" sibTransId="{E909F96E-7E19-4242-876E-86C48B0106AF}"/>
    <dgm:cxn modelId="{FF06CBF1-ED57-4DD4-8C29-F64A07593D62}" type="presOf" srcId="{E909F96E-7E19-4242-876E-86C48B0106AF}" destId="{8CA9B7D9-2A10-4BA4-867B-28CEC6AA37F8}" srcOrd="0" destOrd="0" presId="urn:microsoft.com/office/officeart/2005/8/layout/bProcess3"/>
    <dgm:cxn modelId="{EB8F3AF7-B985-44D6-9103-8FE52C46C9C3}" srcId="{9D4A79F5-4D9A-444A-A5C6-42A71CA46916}" destId="{FAD6FCEB-938C-409D-990B-E80D05F19EA8}" srcOrd="1" destOrd="0" parTransId="{FF4BFAD0-F0A2-4392-B50B-71809451BD42}" sibTransId="{E83D814B-924B-46B8-8130-2EA9E8B527CD}"/>
    <dgm:cxn modelId="{ED06B0F7-D3FD-47AE-8423-08C9E13724F7}" type="presOf" srcId="{828F3A1B-ED0A-4EBC-8684-3789B4A13B62}" destId="{4235F461-14DF-468C-B3EE-99BB4B562255}" srcOrd="0" destOrd="0" presId="urn:microsoft.com/office/officeart/2005/8/layout/bProcess3"/>
    <dgm:cxn modelId="{1AD8CB4F-3E65-4511-A536-B3E32F25FC34}" type="presParOf" srcId="{9D3B19B4-00F0-4D89-BD57-979802D53014}" destId="{37C41069-5968-40F0-8C1E-F6A96DD917FC}" srcOrd="0" destOrd="0" presId="urn:microsoft.com/office/officeart/2005/8/layout/bProcess3"/>
    <dgm:cxn modelId="{438925D5-5CA0-4DC6-B9BC-EE98760A72C8}" type="presParOf" srcId="{9D3B19B4-00F0-4D89-BD57-979802D53014}" destId="{8CA9B7D9-2A10-4BA4-867B-28CEC6AA37F8}" srcOrd="1" destOrd="0" presId="urn:microsoft.com/office/officeart/2005/8/layout/bProcess3"/>
    <dgm:cxn modelId="{F2D55BBE-616B-460D-8041-BD5F6C5FA42D}" type="presParOf" srcId="{8CA9B7D9-2A10-4BA4-867B-28CEC6AA37F8}" destId="{FFD2FAFE-8A68-4108-874B-4C4A096D51B8}" srcOrd="0" destOrd="0" presId="urn:microsoft.com/office/officeart/2005/8/layout/bProcess3"/>
    <dgm:cxn modelId="{81AD8179-7537-4F62-8F24-3891CC72912C}" type="presParOf" srcId="{9D3B19B4-00F0-4D89-BD57-979802D53014}" destId="{431ACDBB-8AA7-4457-B569-F49E513A9998}" srcOrd="2" destOrd="0" presId="urn:microsoft.com/office/officeart/2005/8/layout/bProcess3"/>
    <dgm:cxn modelId="{1F496708-B2F1-48A9-91C1-991A344ACBA4}" type="presParOf" srcId="{9D3B19B4-00F0-4D89-BD57-979802D53014}" destId="{2B16C85D-48A0-4BBA-AE9D-A48BF24A1FB0}" srcOrd="3" destOrd="0" presId="urn:microsoft.com/office/officeart/2005/8/layout/bProcess3"/>
    <dgm:cxn modelId="{6DE63474-B60D-47E6-B3AC-4C86FF1B7C59}" type="presParOf" srcId="{2B16C85D-48A0-4BBA-AE9D-A48BF24A1FB0}" destId="{E991480F-3040-41D7-9DF7-6B3283F57D47}" srcOrd="0" destOrd="0" presId="urn:microsoft.com/office/officeart/2005/8/layout/bProcess3"/>
    <dgm:cxn modelId="{0CDCE51F-6E14-4DF7-BB27-0D61C6CBDBC4}" type="presParOf" srcId="{9D3B19B4-00F0-4D89-BD57-979802D53014}" destId="{4235F461-14DF-468C-B3EE-99BB4B562255}" srcOrd="4" destOrd="0" presId="urn:microsoft.com/office/officeart/2005/8/layout/bProcess3"/>
    <dgm:cxn modelId="{F903377F-2E81-4CEF-9737-674C4D59C432}" type="presParOf" srcId="{9D3B19B4-00F0-4D89-BD57-979802D53014}" destId="{20FA61F8-8B86-46BF-993E-4C2301736BA6}" srcOrd="5" destOrd="0" presId="urn:microsoft.com/office/officeart/2005/8/layout/bProcess3"/>
    <dgm:cxn modelId="{9FABEF6A-5B98-4866-94BF-8C353D1252D4}" type="presParOf" srcId="{20FA61F8-8B86-46BF-993E-4C2301736BA6}" destId="{3D44B178-6AA0-44D1-BEB4-AF1FA7FFEA84}" srcOrd="0" destOrd="0" presId="urn:microsoft.com/office/officeart/2005/8/layout/bProcess3"/>
    <dgm:cxn modelId="{4BE581D0-ECB1-4EC7-9098-7BD6053ACD9F}" type="presParOf" srcId="{9D3B19B4-00F0-4D89-BD57-979802D53014}" destId="{6429DD0F-841E-4D48-9AA2-3D0016FEA126}" srcOrd="6" destOrd="0" presId="urn:microsoft.com/office/officeart/2005/8/layout/bProcess3"/>
    <dgm:cxn modelId="{4B62E9A4-EB72-4AEA-84D1-D1644D4A0DAF}" type="presParOf" srcId="{9D3B19B4-00F0-4D89-BD57-979802D53014}" destId="{BEFE3ED8-2F53-4B7F-B9F8-B41BBC6FE38E}" srcOrd="7" destOrd="0" presId="urn:microsoft.com/office/officeart/2005/8/layout/bProcess3"/>
    <dgm:cxn modelId="{3FB93545-2208-4B75-9B78-0A73278BB17C}" type="presParOf" srcId="{BEFE3ED8-2F53-4B7F-B9F8-B41BBC6FE38E}" destId="{742659E3-0A1C-48AE-AC7F-920E0AC0E356}" srcOrd="0" destOrd="0" presId="urn:microsoft.com/office/officeart/2005/8/layout/bProcess3"/>
    <dgm:cxn modelId="{BFF65600-9A9F-462A-9303-E9AAE42BE24C}" type="presParOf" srcId="{9D3B19B4-00F0-4D89-BD57-979802D53014}" destId="{8D6A2141-F9F1-40FB-8BB9-A7D78F806122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9B7D9-2A10-4BA4-867B-28CEC6AA37F8}">
      <dsp:nvSpPr>
        <dsp:cNvPr id="0" name=""/>
        <dsp:cNvSpPr/>
      </dsp:nvSpPr>
      <dsp:spPr>
        <a:xfrm>
          <a:off x="3178513" y="1706883"/>
          <a:ext cx="5228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2890" y="45720"/>
              </a:lnTo>
            </a:path>
          </a:pathLst>
        </a:custGeom>
        <a:noFill/>
        <a:ln w="9525" cap="rnd" cmpd="sng" algn="ctr">
          <a:solidFill>
            <a:schemeClr val="accent1">
              <a:shade val="90000"/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426122" y="1748987"/>
        <a:ext cx="27674" cy="7232"/>
      </dsp:txXfrm>
    </dsp:sp>
    <dsp:sp modelId="{37C41069-5968-40F0-8C1E-F6A96DD917FC}">
      <dsp:nvSpPr>
        <dsp:cNvPr id="0" name=""/>
        <dsp:cNvSpPr/>
      </dsp:nvSpPr>
      <dsp:spPr>
        <a:xfrm>
          <a:off x="35836" y="809259"/>
          <a:ext cx="3144477" cy="1886686"/>
        </a:xfrm>
        <a:prstGeom prst="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 dirty="0"/>
            <a:t>Initialisation</a:t>
          </a:r>
          <a:r>
            <a:rPr lang="fr-FR" sz="2300" kern="1200" dirty="0"/>
            <a:t> </a:t>
          </a:r>
        </a:p>
      </dsp:txBody>
      <dsp:txXfrm>
        <a:off x="35836" y="809259"/>
        <a:ext cx="3144477" cy="1886686"/>
      </dsp:txXfrm>
    </dsp:sp>
    <dsp:sp modelId="{2B16C85D-48A0-4BBA-AE9D-A48BF24A1FB0}">
      <dsp:nvSpPr>
        <dsp:cNvPr id="0" name=""/>
        <dsp:cNvSpPr/>
      </dsp:nvSpPr>
      <dsp:spPr>
        <a:xfrm>
          <a:off x="6876482" y="1706883"/>
          <a:ext cx="8432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843239" y="45720"/>
              </a:lnTo>
            </a:path>
          </a:pathLst>
        </a:custGeom>
        <a:noFill/>
        <a:ln w="9525" cap="rnd" cmpd="sng" algn="ctr">
          <a:solidFill>
            <a:schemeClr val="accent1">
              <a:shade val="90000"/>
              <a:hueOff val="397435"/>
              <a:satOff val="-41506"/>
              <a:lumOff val="2824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7276256" y="1748987"/>
        <a:ext cx="43691" cy="7232"/>
      </dsp:txXfrm>
    </dsp:sp>
    <dsp:sp modelId="{431ACDBB-8AA7-4457-B569-F49E513A9998}">
      <dsp:nvSpPr>
        <dsp:cNvPr id="0" name=""/>
        <dsp:cNvSpPr/>
      </dsp:nvSpPr>
      <dsp:spPr>
        <a:xfrm>
          <a:off x="3733804" y="809259"/>
          <a:ext cx="3144477" cy="1886686"/>
        </a:xfrm>
        <a:prstGeom prst="rect">
          <a:avLst/>
        </a:prstGeom>
        <a:solidFill>
          <a:schemeClr val="accent1">
            <a:shade val="50000"/>
            <a:hueOff val="292103"/>
            <a:satOff val="-34044"/>
            <a:lumOff val="2333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 dirty="0"/>
            <a:t>Attente d’ordre</a:t>
          </a:r>
        </a:p>
      </dsp:txBody>
      <dsp:txXfrm>
        <a:off x="3733804" y="809259"/>
        <a:ext cx="3144477" cy="1886686"/>
      </dsp:txXfrm>
    </dsp:sp>
    <dsp:sp modelId="{20FA61F8-8B86-46BF-993E-4C2301736BA6}">
      <dsp:nvSpPr>
        <dsp:cNvPr id="0" name=""/>
        <dsp:cNvSpPr/>
      </dsp:nvSpPr>
      <dsp:spPr>
        <a:xfrm>
          <a:off x="2007077" y="2694146"/>
          <a:ext cx="7317283" cy="1311802"/>
        </a:xfrm>
        <a:custGeom>
          <a:avLst/>
          <a:gdLst/>
          <a:ahLst/>
          <a:cxnLst/>
          <a:rect l="0" t="0" r="0" b="0"/>
          <a:pathLst>
            <a:path>
              <a:moveTo>
                <a:pt x="7317283" y="0"/>
              </a:moveTo>
              <a:lnTo>
                <a:pt x="7317283" y="673001"/>
              </a:lnTo>
              <a:lnTo>
                <a:pt x="0" y="673001"/>
              </a:lnTo>
              <a:lnTo>
                <a:pt x="0" y="1311802"/>
              </a:lnTo>
            </a:path>
          </a:pathLst>
        </a:custGeom>
        <a:noFill/>
        <a:ln w="9525" cap="rnd" cmpd="sng" algn="ctr">
          <a:solidFill>
            <a:schemeClr val="accent1">
              <a:shade val="90000"/>
              <a:hueOff val="794871"/>
              <a:satOff val="-83012"/>
              <a:lumOff val="5649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479734" y="3346431"/>
        <a:ext cx="371970" cy="7232"/>
      </dsp:txXfrm>
    </dsp:sp>
    <dsp:sp modelId="{4235F461-14DF-468C-B3EE-99BB4B562255}">
      <dsp:nvSpPr>
        <dsp:cNvPr id="0" name=""/>
        <dsp:cNvSpPr/>
      </dsp:nvSpPr>
      <dsp:spPr>
        <a:xfrm>
          <a:off x="7752122" y="809259"/>
          <a:ext cx="3144477" cy="1886686"/>
        </a:xfrm>
        <a:prstGeom prst="rect">
          <a:avLst/>
        </a:prstGeom>
        <a:solidFill>
          <a:schemeClr val="accent1">
            <a:shade val="50000"/>
            <a:hueOff val="584206"/>
            <a:satOff val="-68089"/>
            <a:lumOff val="4666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 dirty="0"/>
            <a:t>Acquisition</a:t>
          </a:r>
          <a:r>
            <a:rPr lang="fr-FR" sz="2300" kern="1200" dirty="0"/>
            <a:t> </a:t>
          </a:r>
        </a:p>
      </dsp:txBody>
      <dsp:txXfrm>
        <a:off x="7752122" y="809259"/>
        <a:ext cx="3144477" cy="1886686"/>
      </dsp:txXfrm>
    </dsp:sp>
    <dsp:sp modelId="{BEFE3ED8-2F53-4B7F-B9F8-B41BBC6FE38E}">
      <dsp:nvSpPr>
        <dsp:cNvPr id="0" name=""/>
        <dsp:cNvSpPr/>
      </dsp:nvSpPr>
      <dsp:spPr>
        <a:xfrm>
          <a:off x="3577516" y="4935972"/>
          <a:ext cx="27908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412538" y="45720"/>
              </a:lnTo>
              <a:lnTo>
                <a:pt x="1412538" y="45965"/>
              </a:lnTo>
              <a:lnTo>
                <a:pt x="2790877" y="45965"/>
              </a:lnTo>
            </a:path>
          </a:pathLst>
        </a:custGeom>
        <a:noFill/>
        <a:ln w="9525" cap="rnd" cmpd="sng" algn="ctr">
          <a:solidFill>
            <a:schemeClr val="accent1">
              <a:shade val="90000"/>
              <a:hueOff val="397435"/>
              <a:satOff val="-41506"/>
              <a:lumOff val="2824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902418" y="4978076"/>
        <a:ext cx="141073" cy="7232"/>
      </dsp:txXfrm>
    </dsp:sp>
    <dsp:sp modelId="{6429DD0F-841E-4D48-9AA2-3D0016FEA126}">
      <dsp:nvSpPr>
        <dsp:cNvPr id="0" name=""/>
        <dsp:cNvSpPr/>
      </dsp:nvSpPr>
      <dsp:spPr>
        <a:xfrm>
          <a:off x="434838" y="4038349"/>
          <a:ext cx="3144477" cy="1886686"/>
        </a:xfrm>
        <a:prstGeom prst="rect">
          <a:avLst/>
        </a:prstGeom>
        <a:solidFill>
          <a:schemeClr val="accent1">
            <a:shade val="50000"/>
            <a:hueOff val="584206"/>
            <a:satOff val="-68089"/>
            <a:lumOff val="4666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 dirty="0"/>
            <a:t>Envoi Série</a:t>
          </a:r>
          <a:r>
            <a:rPr lang="fr-FR" sz="2300" kern="1200" dirty="0"/>
            <a:t> </a:t>
          </a:r>
        </a:p>
      </dsp:txBody>
      <dsp:txXfrm>
        <a:off x="434838" y="4038349"/>
        <a:ext cx="3144477" cy="1886686"/>
      </dsp:txXfrm>
    </dsp:sp>
    <dsp:sp modelId="{8D6A2141-F9F1-40FB-8BB9-A7D78F806122}">
      <dsp:nvSpPr>
        <dsp:cNvPr id="0" name=""/>
        <dsp:cNvSpPr/>
      </dsp:nvSpPr>
      <dsp:spPr>
        <a:xfrm>
          <a:off x="6400793" y="4038594"/>
          <a:ext cx="3144477" cy="1886686"/>
        </a:xfrm>
        <a:prstGeom prst="rect">
          <a:avLst/>
        </a:prstGeom>
        <a:solidFill>
          <a:schemeClr val="accent1">
            <a:shade val="50000"/>
            <a:hueOff val="292103"/>
            <a:satOff val="-34044"/>
            <a:lumOff val="2333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 dirty="0"/>
            <a:t>Temporisation</a:t>
          </a:r>
          <a:r>
            <a:rPr lang="fr-FR" sz="2300" kern="1200" dirty="0"/>
            <a:t>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(5 s dans notre cas)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300" kern="1200" dirty="0"/>
        </a:p>
      </dsp:txBody>
      <dsp:txXfrm>
        <a:off x="6400793" y="4038594"/>
        <a:ext cx="3144477" cy="18866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E7666-D03A-40BF-B301-DF2C527A9EAF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7275D-4CED-46EF-8015-AAECC247EE8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67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7275D-4CED-46EF-8015-AAECC247EE8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1945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7275D-4CED-46EF-8015-AAECC247EE8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293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7275D-4CED-46EF-8015-AAECC247EE83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511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6318" y="1028699"/>
            <a:ext cx="12001500" cy="4457702"/>
          </a:xfrm>
        </p:spPr>
        <p:txBody>
          <a:bodyPr anchor="b">
            <a:normAutofit/>
          </a:bodyPr>
          <a:lstStyle>
            <a:lvl1pPr algn="l">
              <a:defRPr sz="72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6318" y="5765801"/>
            <a:ext cx="9601200" cy="2921000"/>
          </a:xfrm>
        </p:spPr>
        <p:txBody>
          <a:bodyPr anchor="t">
            <a:normAutofit/>
          </a:bodyPr>
          <a:lstStyle>
            <a:lvl1pPr marL="0" indent="0" algn="l">
              <a:buNone/>
              <a:defRPr sz="315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12342018" y="12701"/>
            <a:ext cx="5715000" cy="5715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9162256" y="137318"/>
            <a:ext cx="9120983" cy="91209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10853738" y="342900"/>
            <a:ext cx="7429500" cy="7429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11003756" y="48418"/>
            <a:ext cx="7279484" cy="727948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1768140" y="914402"/>
            <a:ext cx="6515099" cy="65150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84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1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6317" y="3009900"/>
            <a:ext cx="12801602" cy="3422400"/>
          </a:xfrm>
        </p:spPr>
        <p:txBody>
          <a:bodyPr anchor="b">
            <a:normAutofit/>
          </a:bodyPr>
          <a:lstStyle>
            <a:lvl1pPr algn="l">
              <a:defRPr sz="5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6320" y="6743700"/>
            <a:ext cx="12801600" cy="22479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19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6317" y="1028701"/>
            <a:ext cx="7406483" cy="54229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200" y="1028702"/>
            <a:ext cx="7401719" cy="54228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59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121" y="1028700"/>
            <a:ext cx="6974681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6317" y="1905794"/>
            <a:ext cx="7406483" cy="454580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8599" y="1028700"/>
            <a:ext cx="6997701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09818" y="1893093"/>
            <a:ext cx="7393782" cy="454580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95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5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3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27518" y="1028700"/>
            <a:ext cx="5486400" cy="20574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6318" y="1028700"/>
            <a:ext cx="8915402" cy="79629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27518" y="3314699"/>
            <a:ext cx="5486400" cy="3136901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94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218" y="2171700"/>
            <a:ext cx="9029700" cy="1714500"/>
          </a:xfrm>
        </p:spPr>
        <p:txBody>
          <a:bodyPr anchor="b">
            <a:normAutofit/>
          </a:bodyPr>
          <a:lstStyle>
            <a:lvl1pPr algn="l">
              <a:defRPr sz="4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3518" y="1371600"/>
            <a:ext cx="4921461" cy="6858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4218" y="4165600"/>
            <a:ext cx="9032082" cy="3073400"/>
          </a:xfrm>
        </p:spPr>
        <p:txBody>
          <a:bodyPr anchor="t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6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1028700" y="800100"/>
            <a:ext cx="16228218" cy="46863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371603" y="5765801"/>
            <a:ext cx="12456315" cy="6858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66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6320" y="1028700"/>
            <a:ext cx="15087600" cy="4114800"/>
          </a:xfrm>
        </p:spPr>
        <p:txBody>
          <a:bodyPr anchor="ctr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6318" y="6172200"/>
            <a:ext cx="12803982" cy="2819400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61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1028700"/>
            <a:ext cx="13716002" cy="4114800"/>
          </a:xfrm>
        </p:spPr>
        <p:txBody>
          <a:bodyPr anchor="ctr">
            <a:normAutofit/>
          </a:bodyPr>
          <a:lstStyle>
            <a:lvl1pPr algn="l">
              <a:defRPr sz="4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69318" y="5143500"/>
            <a:ext cx="12801600" cy="5715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6320" y="6451601"/>
            <a:ext cx="12801600" cy="2527298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97718" y="1218333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28118" y="4152902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1187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6318" y="5143500"/>
            <a:ext cx="12801600" cy="2546100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6317" y="7699472"/>
            <a:ext cx="12803985" cy="1290600"/>
          </a:xfrm>
        </p:spPr>
        <p:txBody>
          <a:bodyPr anchor="t">
            <a:normAutofit/>
          </a:bodyPr>
          <a:lstStyle>
            <a:lvl1pPr marL="0" indent="0" algn="l">
              <a:buNone/>
              <a:defRPr sz="30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103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20" y="1028700"/>
            <a:ext cx="13716000" cy="4114800"/>
          </a:xfrm>
        </p:spPr>
        <p:txBody>
          <a:bodyPr anchor="ctr">
            <a:normAutofit/>
          </a:bodyPr>
          <a:lstStyle>
            <a:lvl1pPr algn="l">
              <a:defRPr sz="4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6319" y="5892801"/>
            <a:ext cx="12801602" cy="157479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6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6317" y="7467600"/>
            <a:ext cx="12801602" cy="15240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97718" y="1218333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28118" y="4152902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8619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6320" y="1028700"/>
            <a:ext cx="15087600" cy="4114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6318" y="5892801"/>
            <a:ext cx="12801600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6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6317" y="7150098"/>
            <a:ext cx="12801602" cy="184150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bg2">
                    <a:lumMod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78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36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27818" y="1028700"/>
            <a:ext cx="3086100" cy="685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028700"/>
            <a:ext cx="11734800" cy="79629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4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3810454" y="4445000"/>
            <a:ext cx="4472787" cy="4813301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6318" y="6730998"/>
            <a:ext cx="12801600" cy="226060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6318" y="1028701"/>
            <a:ext cx="12801600" cy="542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5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5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193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3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7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g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nerd-for-tech/monitoring-temperature-and-humidity-using-esp8266-and-dht11-sensor-with-aws-iot-core-service-12a9111d144c" TargetMode="External"/><Relationship Id="rId13" Type="http://schemas.openxmlformats.org/officeDocument/2006/relationships/hyperlink" Target="https://fr.wikipedia.org/wiki/Vue.js" TargetMode="External"/><Relationship Id="rId3" Type="http://schemas.openxmlformats.org/officeDocument/2006/relationships/image" Target="../media/image6.svg"/><Relationship Id="rId7" Type="http://schemas.openxmlformats.org/officeDocument/2006/relationships/hyperlink" Target="https://serialport.io/docs/" TargetMode="External"/><Relationship Id="rId12" Type="http://schemas.openxmlformats.org/officeDocument/2006/relationships/hyperlink" Target="https://ajeetchaulagain.com/blog/express-js-getting-started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ocket.io/docs/v4/" TargetMode="External"/><Relationship Id="rId11" Type="http://schemas.openxmlformats.org/officeDocument/2006/relationships/hyperlink" Target="https://github.com/nodeclipse" TargetMode="External"/><Relationship Id="rId5" Type="http://schemas.openxmlformats.org/officeDocument/2006/relationships/hyperlink" Target="https://expressjs.com/" TargetMode="External"/><Relationship Id="rId10" Type="http://schemas.openxmlformats.org/officeDocument/2006/relationships/hyperlink" Target="https://novatronicec.com/index.php/product/dht11-sensor-temperatura-y-humedad/" TargetMode="External"/><Relationship Id="rId4" Type="http://schemas.openxmlformats.org/officeDocument/2006/relationships/hyperlink" Target="https://vuejs.org/guide/introduction.html" TargetMode="External"/><Relationship Id="rId9" Type="http://schemas.openxmlformats.org/officeDocument/2006/relationships/hyperlink" Target="https://esp32lab.com/boutique/nodemcu-v3-esp8266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50834" y="8637794"/>
            <a:ext cx="18288000" cy="2897941"/>
            <a:chOff x="0" y="-38100"/>
            <a:chExt cx="4606412" cy="675744"/>
          </a:xfrm>
          <a:solidFill>
            <a:srgbClr val="77933C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606412" cy="385079"/>
            </a:xfrm>
            <a:custGeom>
              <a:avLst/>
              <a:gdLst/>
              <a:ahLst/>
              <a:cxnLst/>
              <a:rect l="l" t="t" r="r" b="b"/>
              <a:pathLst>
                <a:path w="4606412" h="637644">
                  <a:moveTo>
                    <a:pt x="0" y="0"/>
                  </a:moveTo>
                  <a:lnTo>
                    <a:pt x="4606412" y="0"/>
                  </a:lnTo>
                  <a:lnTo>
                    <a:pt x="4606412" y="637644"/>
                  </a:lnTo>
                  <a:lnTo>
                    <a:pt x="0" y="637644"/>
                  </a:lnTo>
                  <a:close/>
                </a:path>
              </a:pathLst>
            </a:custGeom>
            <a:grpFill/>
            <a:ln>
              <a:solidFill>
                <a:schemeClr val="accent3">
                  <a:lumMod val="50000"/>
                </a:schemeClr>
              </a:solidFill>
            </a:ln>
          </p:spPr>
          <p:txBody>
            <a:bodyPr/>
            <a:lstStyle/>
            <a:p>
              <a:r>
                <a:rPr lang="fr-FR" sz="32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Présentée par :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606412" cy="67574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solidFill>
                  <a:schemeClr val="accent3">
                    <a:lumMod val="50000"/>
                  </a:schemeClr>
                </a:solidFill>
                <a:highlight>
                  <a:srgbClr val="00FF00"/>
                </a:highlight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81779" y="5862085"/>
            <a:ext cx="7818105" cy="1366046"/>
            <a:chOff x="0" y="0"/>
            <a:chExt cx="2016131" cy="3421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6131" cy="342186"/>
            </a:xfrm>
            <a:custGeom>
              <a:avLst/>
              <a:gdLst/>
              <a:ahLst/>
              <a:cxnLst/>
              <a:rect l="l" t="t" r="r" b="b"/>
              <a:pathLst>
                <a:path w="2016131" h="342186">
                  <a:moveTo>
                    <a:pt x="96189" y="0"/>
                  </a:moveTo>
                  <a:lnTo>
                    <a:pt x="1919941" y="0"/>
                  </a:lnTo>
                  <a:cubicBezTo>
                    <a:pt x="1973065" y="0"/>
                    <a:pt x="2016131" y="43065"/>
                    <a:pt x="2016131" y="96189"/>
                  </a:cubicBezTo>
                  <a:lnTo>
                    <a:pt x="2016131" y="245997"/>
                  </a:lnTo>
                  <a:cubicBezTo>
                    <a:pt x="2016131" y="271508"/>
                    <a:pt x="2005997" y="295974"/>
                    <a:pt x="1987958" y="314013"/>
                  </a:cubicBezTo>
                  <a:cubicBezTo>
                    <a:pt x="1969919" y="332052"/>
                    <a:pt x="1945452" y="342186"/>
                    <a:pt x="1919941" y="342186"/>
                  </a:cubicBezTo>
                  <a:lnTo>
                    <a:pt x="96189" y="342186"/>
                  </a:lnTo>
                  <a:cubicBezTo>
                    <a:pt x="70678" y="342186"/>
                    <a:pt x="46212" y="332052"/>
                    <a:pt x="28173" y="314013"/>
                  </a:cubicBezTo>
                  <a:cubicBezTo>
                    <a:pt x="10134" y="295974"/>
                    <a:pt x="0" y="271508"/>
                    <a:pt x="0" y="245997"/>
                  </a:cubicBezTo>
                  <a:lnTo>
                    <a:pt x="0" y="96189"/>
                  </a:lnTo>
                  <a:cubicBezTo>
                    <a:pt x="0" y="43065"/>
                    <a:pt x="43065" y="0"/>
                    <a:pt x="96189" y="0"/>
                  </a:cubicBezTo>
                  <a:close/>
                </a:path>
              </a:pathLst>
            </a:custGeom>
            <a:solidFill>
              <a:srgbClr val="ECE0D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16131" cy="380286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930354" y="5862606"/>
            <a:ext cx="1366046" cy="136604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B53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23" name="Freeform 23"/>
          <p:cNvSpPr/>
          <p:nvPr/>
        </p:nvSpPr>
        <p:spPr>
          <a:xfrm>
            <a:off x="8324547" y="6190709"/>
            <a:ext cx="646599" cy="709839"/>
          </a:xfrm>
          <a:custGeom>
            <a:avLst/>
            <a:gdLst/>
            <a:ahLst/>
            <a:cxnLst/>
            <a:rect l="l" t="t" r="r" b="b"/>
            <a:pathLst>
              <a:path w="646599" h="709839">
                <a:moveTo>
                  <a:pt x="0" y="0"/>
                </a:moveTo>
                <a:lnTo>
                  <a:pt x="646599" y="0"/>
                </a:lnTo>
                <a:lnTo>
                  <a:pt x="646599" y="709839"/>
                </a:lnTo>
                <a:lnTo>
                  <a:pt x="0" y="709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24" name="TextBox 24"/>
          <p:cNvSpPr txBox="1"/>
          <p:nvPr/>
        </p:nvSpPr>
        <p:spPr>
          <a:xfrm>
            <a:off x="-374073" y="1745259"/>
            <a:ext cx="11049000" cy="3456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571"/>
              </a:lnSpc>
            </a:pPr>
            <a:r>
              <a:rPr lang="fr-FR" sz="6000" dirty="0">
                <a:solidFill>
                  <a:schemeClr val="bg1"/>
                </a:solidFill>
              </a:rPr>
              <a:t>Console IoT : Application PWA interactive</a:t>
            </a:r>
            <a:endParaRPr lang="en-US" sz="6000" dirty="0">
              <a:solidFill>
                <a:schemeClr val="bg1"/>
              </a:solidFill>
              <a:latin typeface="Oswald Bold"/>
              <a:ea typeface="Oswald Bold"/>
              <a:cs typeface="Calibri" panose="020F0502020204030204" pitchFamily="34" charset="0"/>
              <a:sym typeface="Oswald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76950" y="6244544"/>
            <a:ext cx="6617437" cy="601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fr-FR" sz="3600" b="1" dirty="0">
                <a:solidFill>
                  <a:schemeClr val="bg1"/>
                </a:solidFill>
              </a:rPr>
              <a:t>De l'ESP8266 à la PWA</a:t>
            </a:r>
            <a:endParaRPr lang="en-US" sz="36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AutoShape 6" descr="L3 - Licence EEA université de Lille">
            <a:extLst>
              <a:ext uri="{FF2B5EF4-FFF2-40B4-BE49-F238E27FC236}">
                <a16:creationId xmlns:a16="http://schemas.microsoft.com/office/drawing/2014/main" id="{187A8C1F-6355-43F7-B3F2-24DB492807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72200" y="4965352"/>
            <a:ext cx="29718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35" name="AutoShape 8" descr="L3 - Licence EEA université de Lille">
            <a:extLst>
              <a:ext uri="{FF2B5EF4-FFF2-40B4-BE49-F238E27FC236}">
                <a16:creationId xmlns:a16="http://schemas.microsoft.com/office/drawing/2014/main" id="{632967EB-99AA-47A6-9C29-FEAE65919C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C077A2-D430-4AE7-979A-64F9BE45F9DF}"/>
              </a:ext>
            </a:extLst>
          </p:cNvPr>
          <p:cNvSpPr txBox="1"/>
          <p:nvPr/>
        </p:nvSpPr>
        <p:spPr>
          <a:xfrm>
            <a:off x="990600" y="8822669"/>
            <a:ext cx="65013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latin typeface="+mj-lt"/>
                <a:cs typeface="Calibri" panose="020F0502020204030204" pitchFamily="34" charset="0"/>
              </a:rPr>
              <a:t>AOUAS Liza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latin typeface="+mj-lt"/>
                <a:cs typeface="Calibri" panose="020F0502020204030204" pitchFamily="34" charset="0"/>
              </a:rPr>
              <a:t>BENNOUR </a:t>
            </a:r>
            <a:r>
              <a:rPr lang="fr-FR" sz="3200" dirty="0" err="1">
                <a:latin typeface="+mj-lt"/>
                <a:cs typeface="Calibri" panose="020F0502020204030204" pitchFamily="34" charset="0"/>
              </a:rPr>
              <a:t>Dania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2" charset="0"/>
              </a:rPr>
              <a:t>	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3DE358-87AD-4085-84CE-EB2FB174A1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520" y="-834093"/>
            <a:ext cx="4674520" cy="3456587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8A64654-576C-4FD3-9A71-ECE24A2A7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2649" y="2350040"/>
            <a:ext cx="5943356" cy="5943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FF25D1-7ECD-4BFD-93BC-03785375C8E1}"/>
              </a:ext>
            </a:extLst>
          </p:cNvPr>
          <p:cNvSpPr txBox="1"/>
          <p:nvPr/>
        </p:nvSpPr>
        <p:spPr>
          <a:xfrm>
            <a:off x="13106400" y="8707588"/>
            <a:ext cx="419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+mj-lt"/>
                <a:cs typeface="Calibri" panose="020F0502020204030204" pitchFamily="34" charset="0"/>
              </a:rPr>
              <a:t>Master 1 MTI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BA7DE-49B4-A849-FAD0-B143EC69D33D}"/>
              </a:ext>
            </a:extLst>
          </p:cNvPr>
          <p:cNvSpPr txBox="1"/>
          <p:nvPr/>
        </p:nvSpPr>
        <p:spPr>
          <a:xfrm>
            <a:off x="11306738" y="309426"/>
            <a:ext cx="6191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ANNEE UNIVERSITAIRE : 2025/2026</a:t>
            </a:r>
            <a:endParaRPr lang="en-US" sz="3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A1DD55-6DF8-AE3D-9C27-26CD0880665E}"/>
              </a:ext>
            </a:extLst>
          </p:cNvPr>
          <p:cNvSpPr txBox="1"/>
          <p:nvPr/>
        </p:nvSpPr>
        <p:spPr>
          <a:xfrm>
            <a:off x="6157452" y="8799790"/>
            <a:ext cx="55869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Encadré par :</a:t>
            </a:r>
          </a:p>
          <a:p>
            <a:r>
              <a:rPr lang="fr-FR" sz="3200" dirty="0"/>
              <a:t>M. Fabrice De Almeida Pereira Monteiro</a:t>
            </a:r>
            <a:endParaRPr lang="en-US" sz="3200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2">
            <a:extLst>
              <a:ext uri="{FF2B5EF4-FFF2-40B4-BE49-F238E27FC236}">
                <a16:creationId xmlns:a16="http://schemas.microsoft.com/office/drawing/2014/main" id="{374A594A-9DE5-4F07-8852-45BA3774371C}"/>
              </a:ext>
            </a:extLst>
          </p:cNvPr>
          <p:cNvSpPr/>
          <p:nvPr/>
        </p:nvSpPr>
        <p:spPr>
          <a:xfrm>
            <a:off x="1028700" y="1028700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6">
            <a:extLst>
              <a:ext uri="{FF2B5EF4-FFF2-40B4-BE49-F238E27FC236}">
                <a16:creationId xmlns:a16="http://schemas.microsoft.com/office/drawing/2014/main" id="{58BC1099-B0CA-4ED6-A240-8A05A3F52668}"/>
              </a:ext>
            </a:extLst>
          </p:cNvPr>
          <p:cNvGrpSpPr/>
          <p:nvPr/>
        </p:nvGrpSpPr>
        <p:grpSpPr>
          <a:xfrm>
            <a:off x="4344765" y="983765"/>
            <a:ext cx="2784507" cy="738385"/>
            <a:chOff x="0" y="-19362"/>
            <a:chExt cx="733368" cy="194472"/>
          </a:xfrm>
        </p:grpSpPr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BE135E32-664C-45DD-9E07-81D0B05DAB87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BFB35D16-B510-48CA-8998-0A39E5F3BCF3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</a:t>
              </a:r>
            </a:p>
          </p:txBody>
        </p:sp>
      </p:grpSp>
      <p:sp>
        <p:nvSpPr>
          <p:cNvPr id="21" name="Freeform 4">
            <a:extLst>
              <a:ext uri="{FF2B5EF4-FFF2-40B4-BE49-F238E27FC236}">
                <a16:creationId xmlns:a16="http://schemas.microsoft.com/office/drawing/2014/main" id="{49DCC787-6A55-41E1-AA10-6866F2CC6736}"/>
              </a:ext>
            </a:extLst>
          </p:cNvPr>
          <p:cNvSpPr/>
          <p:nvPr/>
        </p:nvSpPr>
        <p:spPr>
          <a:xfrm>
            <a:off x="1877173" y="1105623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Accueil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0CC31B-8A59-4F7F-8628-B3DAECE6ABA1}"/>
              </a:ext>
            </a:extLst>
          </p:cNvPr>
          <p:cNvSpPr txBox="1"/>
          <p:nvPr/>
        </p:nvSpPr>
        <p:spPr>
          <a:xfrm>
            <a:off x="1028700" y="2682147"/>
            <a:ext cx="159639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fr-FR" sz="4400" b="1" dirty="0">
                <a:solidFill>
                  <a:schemeClr val="bg1"/>
                </a:solidFill>
              </a:rPr>
              <a:t>Imaginez une chambre très sensible à la température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3D8CA00-AA31-4CEF-812C-3241B2D448F9}"/>
              </a:ext>
            </a:extLst>
          </p:cNvPr>
          <p:cNvSpPr/>
          <p:nvPr/>
        </p:nvSpPr>
        <p:spPr>
          <a:xfrm>
            <a:off x="7330897" y="5837682"/>
            <a:ext cx="3626206" cy="564250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pPr algn="ctr"/>
            <a:r>
              <a:rPr lang="fr-FR" sz="3600" dirty="0">
                <a:solidFill>
                  <a:schemeClr val="bg1"/>
                </a:solidFill>
              </a:rPr>
              <a:t>Surveillance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FFF84ABE-8509-4439-B099-EB121258AC64}"/>
              </a:ext>
            </a:extLst>
          </p:cNvPr>
          <p:cNvSpPr/>
          <p:nvPr/>
        </p:nvSpPr>
        <p:spPr>
          <a:xfrm>
            <a:off x="2081534" y="5792332"/>
            <a:ext cx="1906365" cy="609600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Alertes</a:t>
            </a:r>
          </a:p>
          <a:p>
            <a:pPr algn="ctr"/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9A72CA03-9364-448D-BB42-D4ADE9772258}"/>
              </a:ext>
            </a:extLst>
          </p:cNvPr>
          <p:cNvSpPr/>
          <p:nvPr/>
        </p:nvSpPr>
        <p:spPr>
          <a:xfrm>
            <a:off x="13639800" y="5880469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Capteur</a:t>
            </a:r>
            <a:endParaRPr lang="fr-FR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E53A57-EAFD-474F-AE96-7E95DCE3DFD4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FD104D0B-01C1-4D0D-8446-B6D1553247BA}"/>
              </a:ext>
            </a:extLst>
          </p:cNvPr>
          <p:cNvGrpSpPr/>
          <p:nvPr/>
        </p:nvGrpSpPr>
        <p:grpSpPr>
          <a:xfrm>
            <a:off x="4330479" y="1052583"/>
            <a:ext cx="2784507" cy="738385"/>
            <a:chOff x="0" y="-19362"/>
            <a:chExt cx="733368" cy="194472"/>
          </a:xfrm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7F9E4426-C581-4976-88C6-93D45A6D0A0B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30EA2BDC-0015-4888-8EBD-AFCBE87E6236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</a:t>
              </a:r>
            </a:p>
          </p:txBody>
        </p:sp>
      </p:grpSp>
      <p:sp>
        <p:nvSpPr>
          <p:cNvPr id="7" name="Freeform 4">
            <a:extLst>
              <a:ext uri="{FF2B5EF4-FFF2-40B4-BE49-F238E27FC236}">
                <a16:creationId xmlns:a16="http://schemas.microsoft.com/office/drawing/2014/main" id="{E8A594D7-A42C-4B69-9CD8-9F77096A5622}"/>
              </a:ext>
            </a:extLst>
          </p:cNvPr>
          <p:cNvSpPr/>
          <p:nvPr/>
        </p:nvSpPr>
        <p:spPr>
          <a:xfrm>
            <a:off x="1895802" y="1133648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Accueil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E84619-9C5A-4F1F-87C2-EE23E0BA7D8E}"/>
              </a:ext>
            </a:extLst>
          </p:cNvPr>
          <p:cNvSpPr txBox="1"/>
          <p:nvPr/>
        </p:nvSpPr>
        <p:spPr>
          <a:xfrm>
            <a:off x="1014414" y="2933700"/>
            <a:ext cx="12853986" cy="4242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Pourquoi ce projet: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fr-FR" sz="36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chemeClr val="bg1"/>
                </a:solidFill>
              </a:rPr>
              <a:t>Solutions commerciales couteuse et fermées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chemeClr val="bg1"/>
                </a:solidFill>
              </a:rPr>
              <a:t>Manque de transparence sur les données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chemeClr val="bg1"/>
                </a:solidFill>
              </a:rPr>
              <a:t>Besoin de contrôle total</a:t>
            </a:r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06AE12B4-8125-4EEF-9913-DC87E6E988DB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E4038FE4-B1C8-4B25-B578-EFEDC7CE52BF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26951A95-746B-41C0-B5D2-B876BE282D37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D706130-3254-470B-9787-EB6236E26619}"/>
              </a:ext>
            </a:extLst>
          </p:cNvPr>
          <p:cNvSpPr/>
          <p:nvPr/>
        </p:nvSpPr>
        <p:spPr>
          <a:xfrm>
            <a:off x="762000" y="2781300"/>
            <a:ext cx="13106400" cy="6019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8111BDE4-A437-43B8-8A35-037C4CF92DD8}"/>
              </a:ext>
            </a:extLst>
          </p:cNvPr>
          <p:cNvGrpSpPr/>
          <p:nvPr/>
        </p:nvGrpSpPr>
        <p:grpSpPr>
          <a:xfrm>
            <a:off x="12984316" y="2392770"/>
            <a:ext cx="1291911" cy="1291911"/>
            <a:chOff x="0" y="0"/>
            <a:chExt cx="812800" cy="812800"/>
          </a:xfrm>
        </p:grpSpPr>
        <p:sp>
          <p:nvSpPr>
            <p:cNvPr id="18" name="Freeform 23">
              <a:extLst>
                <a:ext uri="{FF2B5EF4-FFF2-40B4-BE49-F238E27FC236}">
                  <a16:creationId xmlns:a16="http://schemas.microsoft.com/office/drawing/2014/main" id="{7E8945EC-29A3-45BA-9BA2-80D4199F989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B53C"/>
            </a:solidFill>
          </p:spPr>
        </p:sp>
        <p:sp>
          <p:nvSpPr>
            <p:cNvPr id="19" name="TextBox 24">
              <a:extLst>
                <a:ext uri="{FF2B5EF4-FFF2-40B4-BE49-F238E27FC236}">
                  <a16:creationId xmlns:a16="http://schemas.microsoft.com/office/drawing/2014/main" id="{9EB6ED29-D499-47D1-ACAD-DE050AF9C57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3">
            <a:extLst>
              <a:ext uri="{FF2B5EF4-FFF2-40B4-BE49-F238E27FC236}">
                <a16:creationId xmlns:a16="http://schemas.microsoft.com/office/drawing/2014/main" id="{30DAE8A7-6D97-412D-BF0E-FC7C3EBBBC6D}"/>
              </a:ext>
            </a:extLst>
          </p:cNvPr>
          <p:cNvSpPr/>
          <p:nvPr/>
        </p:nvSpPr>
        <p:spPr>
          <a:xfrm>
            <a:off x="13306971" y="2719999"/>
            <a:ext cx="646599" cy="709839"/>
          </a:xfrm>
          <a:custGeom>
            <a:avLst/>
            <a:gdLst/>
            <a:ahLst/>
            <a:cxnLst/>
            <a:rect l="l" t="t" r="r" b="b"/>
            <a:pathLst>
              <a:path w="646599" h="709839">
                <a:moveTo>
                  <a:pt x="0" y="0"/>
                </a:moveTo>
                <a:lnTo>
                  <a:pt x="646599" y="0"/>
                </a:lnTo>
                <a:lnTo>
                  <a:pt x="646599" y="709839"/>
                </a:lnTo>
                <a:lnTo>
                  <a:pt x="0" y="709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1101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E53A57-EAFD-474F-AE96-7E95DCE3DFD4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FD104D0B-01C1-4D0D-8446-B6D1553247BA}"/>
              </a:ext>
            </a:extLst>
          </p:cNvPr>
          <p:cNvGrpSpPr/>
          <p:nvPr/>
        </p:nvGrpSpPr>
        <p:grpSpPr>
          <a:xfrm>
            <a:off x="4330479" y="1052583"/>
            <a:ext cx="2784507" cy="738385"/>
            <a:chOff x="0" y="-19362"/>
            <a:chExt cx="733368" cy="194472"/>
          </a:xfrm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7F9E4426-C581-4976-88C6-93D45A6D0A0B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30EA2BDC-0015-4888-8EBD-AFCBE87E6236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</a:t>
              </a:r>
            </a:p>
          </p:txBody>
        </p:sp>
      </p:grpSp>
      <p:sp>
        <p:nvSpPr>
          <p:cNvPr id="7" name="Freeform 4">
            <a:extLst>
              <a:ext uri="{FF2B5EF4-FFF2-40B4-BE49-F238E27FC236}">
                <a16:creationId xmlns:a16="http://schemas.microsoft.com/office/drawing/2014/main" id="{E8A594D7-A42C-4B69-9CD8-9F77096A5622}"/>
              </a:ext>
            </a:extLst>
          </p:cNvPr>
          <p:cNvSpPr/>
          <p:nvPr/>
        </p:nvSpPr>
        <p:spPr>
          <a:xfrm>
            <a:off x="1895802" y="1133648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Accueil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E84619-9C5A-4F1F-87C2-EE23E0BA7D8E}"/>
              </a:ext>
            </a:extLst>
          </p:cNvPr>
          <p:cNvSpPr txBox="1"/>
          <p:nvPr/>
        </p:nvSpPr>
        <p:spPr>
          <a:xfrm>
            <a:off x="1014414" y="2933700"/>
            <a:ext cx="12853986" cy="4834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Objectifs du projet: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fr-FR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chemeClr val="bg1"/>
                </a:solidFill>
              </a:rPr>
              <a:t>Créer une mini-station connectée de début à la fin.</a:t>
            </a:r>
          </a:p>
          <a:p>
            <a:pPr marL="571500" indent="-5715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chemeClr val="bg1"/>
                </a:solidFill>
              </a:rPr>
              <a:t>Proposer un système abordable, transparent et personnalisable.</a:t>
            </a:r>
          </a:p>
          <a:p>
            <a:pPr marL="571500" indent="-5715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chemeClr val="bg1"/>
                </a:solidFill>
              </a:rPr>
              <a:t>Maîtriser le flux d'informations, du capteur jusqu'au navigateur web.</a:t>
            </a:r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06AE12B4-8125-4EEF-9913-DC87E6E988DB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E4038FE4-B1C8-4B25-B578-EFEDC7CE52BF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26951A95-746B-41C0-B5D2-B876BE282D37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D706130-3254-470B-9787-EB6236E26619}"/>
              </a:ext>
            </a:extLst>
          </p:cNvPr>
          <p:cNvSpPr/>
          <p:nvPr/>
        </p:nvSpPr>
        <p:spPr>
          <a:xfrm>
            <a:off x="762000" y="2781300"/>
            <a:ext cx="13106400" cy="6019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8111BDE4-A437-43B8-8A35-037C4CF92DD8}"/>
              </a:ext>
            </a:extLst>
          </p:cNvPr>
          <p:cNvGrpSpPr/>
          <p:nvPr/>
        </p:nvGrpSpPr>
        <p:grpSpPr>
          <a:xfrm>
            <a:off x="12984316" y="2392770"/>
            <a:ext cx="1291911" cy="1291911"/>
            <a:chOff x="0" y="0"/>
            <a:chExt cx="812800" cy="812800"/>
          </a:xfrm>
        </p:grpSpPr>
        <p:sp>
          <p:nvSpPr>
            <p:cNvPr id="18" name="Freeform 23">
              <a:extLst>
                <a:ext uri="{FF2B5EF4-FFF2-40B4-BE49-F238E27FC236}">
                  <a16:creationId xmlns:a16="http://schemas.microsoft.com/office/drawing/2014/main" id="{7E8945EC-29A3-45BA-9BA2-80D4199F989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B53C"/>
            </a:solidFill>
          </p:spPr>
        </p:sp>
        <p:sp>
          <p:nvSpPr>
            <p:cNvPr id="19" name="TextBox 24">
              <a:extLst>
                <a:ext uri="{FF2B5EF4-FFF2-40B4-BE49-F238E27FC236}">
                  <a16:creationId xmlns:a16="http://schemas.microsoft.com/office/drawing/2014/main" id="{9EB6ED29-D499-47D1-ACAD-DE050AF9C57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3">
            <a:extLst>
              <a:ext uri="{FF2B5EF4-FFF2-40B4-BE49-F238E27FC236}">
                <a16:creationId xmlns:a16="http://schemas.microsoft.com/office/drawing/2014/main" id="{30DAE8A7-6D97-412D-BF0E-FC7C3EBBBC6D}"/>
              </a:ext>
            </a:extLst>
          </p:cNvPr>
          <p:cNvSpPr/>
          <p:nvPr/>
        </p:nvSpPr>
        <p:spPr>
          <a:xfrm>
            <a:off x="13306971" y="2719999"/>
            <a:ext cx="646599" cy="709839"/>
          </a:xfrm>
          <a:custGeom>
            <a:avLst/>
            <a:gdLst/>
            <a:ahLst/>
            <a:cxnLst/>
            <a:rect l="l" t="t" r="r" b="b"/>
            <a:pathLst>
              <a:path w="646599" h="709839">
                <a:moveTo>
                  <a:pt x="0" y="0"/>
                </a:moveTo>
                <a:lnTo>
                  <a:pt x="646599" y="0"/>
                </a:lnTo>
                <a:lnTo>
                  <a:pt x="646599" y="709839"/>
                </a:lnTo>
                <a:lnTo>
                  <a:pt x="0" y="709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7276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6" descr="L3 - Licence EEA université de Lille">
            <a:extLst>
              <a:ext uri="{FF2B5EF4-FFF2-40B4-BE49-F238E27FC236}">
                <a16:creationId xmlns:a16="http://schemas.microsoft.com/office/drawing/2014/main" id="{187A8C1F-6355-43F7-B3F2-24DB492807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4600" y="4991100"/>
            <a:ext cx="29718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35" name="AutoShape 8" descr="L3 - Licence EEA université de Lille">
            <a:extLst>
              <a:ext uri="{FF2B5EF4-FFF2-40B4-BE49-F238E27FC236}">
                <a16:creationId xmlns:a16="http://schemas.microsoft.com/office/drawing/2014/main" id="{632967EB-99AA-47A6-9C29-FEAE65919C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665FFD-5D5D-43C1-AFF6-F56DC8151EB3}"/>
              </a:ext>
            </a:extLst>
          </p:cNvPr>
          <p:cNvSpPr txBox="1"/>
          <p:nvPr/>
        </p:nvSpPr>
        <p:spPr>
          <a:xfrm>
            <a:off x="824582" y="3074919"/>
            <a:ext cx="12601574" cy="663765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857250" marR="0" lvl="0" indent="-8572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Architecture globale du système</a:t>
            </a:r>
            <a:endParaRPr lang="fr-FR" altLang="fr-FR" sz="3600" b="1" dirty="0">
              <a:solidFill>
                <a:schemeClr val="bg1"/>
              </a:solidFill>
              <a:latin typeface="+mj-lt"/>
            </a:endParaRPr>
          </a:p>
          <a:p>
            <a:pPr marL="857250" marR="0" lvl="0" indent="-8572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Le système embarqué (Matériel : ESP8266 &amp; DHT11)</a:t>
            </a:r>
          </a:p>
          <a:p>
            <a:pPr marL="857250" marR="0" lvl="0" indent="-8572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Le développement logiciel </a:t>
            </a:r>
          </a:p>
          <a:p>
            <a:pPr marL="1028700" lvl="1" indent="-5715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Serveur Node.js </a:t>
            </a:r>
          </a:p>
          <a:p>
            <a:pPr marL="1028700" lvl="1" indent="-5715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Interface Vue.js</a:t>
            </a:r>
          </a:p>
          <a:p>
            <a:pPr marL="857250" marR="0" lvl="0" indent="-8572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Résultats et améliorations (Signalisation visuelle)</a:t>
            </a:r>
          </a:p>
          <a:p>
            <a:pPr marL="857250" marR="0" lvl="0" indent="-8572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lang="fr-FR" altLang="fr-FR" sz="3600" b="1" dirty="0">
                <a:solidFill>
                  <a:schemeClr val="bg1"/>
                </a:solidFill>
                <a:latin typeface="+mj-lt"/>
              </a:rPr>
              <a:t>Bilan du projet</a:t>
            </a:r>
            <a:endParaRPr kumimoji="0" lang="fr-FR" altLang="fr-FR" sz="3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857250" marR="0" lvl="0" indent="-8572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Conclusion </a:t>
            </a:r>
          </a:p>
        </p:txBody>
      </p:sp>
      <p:grpSp>
        <p:nvGrpSpPr>
          <p:cNvPr id="24" name="Group 22">
            <a:extLst>
              <a:ext uri="{FF2B5EF4-FFF2-40B4-BE49-F238E27FC236}">
                <a16:creationId xmlns:a16="http://schemas.microsoft.com/office/drawing/2014/main" id="{64363B71-6F26-40A7-A9B3-4EFE17ED3D12}"/>
              </a:ext>
            </a:extLst>
          </p:cNvPr>
          <p:cNvGrpSpPr/>
          <p:nvPr/>
        </p:nvGrpSpPr>
        <p:grpSpPr>
          <a:xfrm>
            <a:off x="12984316" y="2392770"/>
            <a:ext cx="1291911" cy="1291911"/>
            <a:chOff x="0" y="0"/>
            <a:chExt cx="812800" cy="812800"/>
          </a:xfrm>
        </p:grpSpPr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B42019A2-0135-4FF8-9F3A-C4DEB4E9F63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B53C"/>
            </a:solidFill>
          </p:spPr>
        </p:sp>
        <p:sp>
          <p:nvSpPr>
            <p:cNvPr id="26" name="TextBox 24">
              <a:extLst>
                <a:ext uri="{FF2B5EF4-FFF2-40B4-BE49-F238E27FC236}">
                  <a16:creationId xmlns:a16="http://schemas.microsoft.com/office/drawing/2014/main" id="{09B05D0E-BC88-4EDE-A26F-787A85E9CCF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3">
            <a:extLst>
              <a:ext uri="{FF2B5EF4-FFF2-40B4-BE49-F238E27FC236}">
                <a16:creationId xmlns:a16="http://schemas.microsoft.com/office/drawing/2014/main" id="{06CC5622-F2C5-435E-A4C5-9D7CB2D8297B}"/>
              </a:ext>
            </a:extLst>
          </p:cNvPr>
          <p:cNvSpPr/>
          <p:nvPr/>
        </p:nvSpPr>
        <p:spPr>
          <a:xfrm>
            <a:off x="13306971" y="2719999"/>
            <a:ext cx="646599" cy="709839"/>
          </a:xfrm>
          <a:custGeom>
            <a:avLst/>
            <a:gdLst/>
            <a:ahLst/>
            <a:cxnLst/>
            <a:rect l="l" t="t" r="r" b="b"/>
            <a:pathLst>
              <a:path w="646599" h="709839">
                <a:moveTo>
                  <a:pt x="0" y="0"/>
                </a:moveTo>
                <a:lnTo>
                  <a:pt x="646599" y="0"/>
                </a:lnTo>
                <a:lnTo>
                  <a:pt x="646599" y="709839"/>
                </a:lnTo>
                <a:lnTo>
                  <a:pt x="0" y="709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23" name="Freeform 2">
            <a:extLst>
              <a:ext uri="{FF2B5EF4-FFF2-40B4-BE49-F238E27FC236}">
                <a16:creationId xmlns:a16="http://schemas.microsoft.com/office/drawing/2014/main" id="{99846BC0-91C1-4AAD-90BA-0DB0203F6078}"/>
              </a:ext>
            </a:extLst>
          </p:cNvPr>
          <p:cNvSpPr/>
          <p:nvPr/>
        </p:nvSpPr>
        <p:spPr>
          <a:xfrm>
            <a:off x="1028700" y="1028700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4">
            <a:extLst>
              <a:ext uri="{FF2B5EF4-FFF2-40B4-BE49-F238E27FC236}">
                <a16:creationId xmlns:a16="http://schemas.microsoft.com/office/drawing/2014/main" id="{CEAE7F68-B52A-413E-B626-856A9A398463}"/>
              </a:ext>
            </a:extLst>
          </p:cNvPr>
          <p:cNvSpPr/>
          <p:nvPr/>
        </p:nvSpPr>
        <p:spPr>
          <a:xfrm>
            <a:off x="1877173" y="1105623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2"/>
          </a:solidFill>
        </p:spPr>
      </p:sp>
      <p:grpSp>
        <p:nvGrpSpPr>
          <p:cNvPr id="33" name="Group 6">
            <a:extLst>
              <a:ext uri="{FF2B5EF4-FFF2-40B4-BE49-F238E27FC236}">
                <a16:creationId xmlns:a16="http://schemas.microsoft.com/office/drawing/2014/main" id="{554A89B8-5F45-4250-88EC-553DAE0A1A38}"/>
              </a:ext>
            </a:extLst>
          </p:cNvPr>
          <p:cNvGrpSpPr/>
          <p:nvPr/>
        </p:nvGrpSpPr>
        <p:grpSpPr>
          <a:xfrm>
            <a:off x="4344765" y="983765"/>
            <a:ext cx="2784507" cy="738385"/>
            <a:chOff x="0" y="-19362"/>
            <a:chExt cx="733368" cy="194472"/>
          </a:xfrm>
        </p:grpSpPr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43B27B30-BC11-49BE-9AAB-78845D278594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37" name="TextBox 8">
              <a:extLst>
                <a:ext uri="{FF2B5EF4-FFF2-40B4-BE49-F238E27FC236}">
                  <a16:creationId xmlns:a16="http://schemas.microsoft.com/office/drawing/2014/main" id="{7FBD052D-6A52-41F8-B611-8D942269201A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Sommaire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" name="Group 3">
            <a:extLst>
              <a:ext uri="{FF2B5EF4-FFF2-40B4-BE49-F238E27FC236}">
                <a16:creationId xmlns:a16="http://schemas.microsoft.com/office/drawing/2014/main" id="{9F361B56-FB5A-44FD-A958-5A41644BBA0B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DF617E3C-4E21-49AA-9488-E43BB433900B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5">
              <a:extLst>
                <a:ext uri="{FF2B5EF4-FFF2-40B4-BE49-F238E27FC236}">
                  <a16:creationId xmlns:a16="http://schemas.microsoft.com/office/drawing/2014/main" id="{A6D8C378-D93A-47D3-8F4A-4AB08F1877E7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1521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0"/>
          <p:cNvSpPr txBox="1"/>
          <p:nvPr/>
        </p:nvSpPr>
        <p:spPr>
          <a:xfrm>
            <a:off x="1622424" y="2394413"/>
            <a:ext cx="10569576" cy="2062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95"/>
              </a:lnSpc>
            </a:pPr>
            <a:r>
              <a:rPr lang="en-US" sz="4800" dirty="0">
                <a:solidFill>
                  <a:schemeClr val="bg1"/>
                </a:solidFill>
                <a:latin typeface="+mj-lt"/>
                <a:ea typeface="Oswald Bold"/>
                <a:cs typeface="Oswald Bold"/>
                <a:sym typeface="Oswald Bold"/>
              </a:rPr>
              <a:t>Architecture </a:t>
            </a:r>
            <a:r>
              <a:rPr lang="en-US" sz="4800" dirty="0" err="1">
                <a:solidFill>
                  <a:schemeClr val="bg1"/>
                </a:solidFill>
                <a:latin typeface="+mj-lt"/>
                <a:ea typeface="Oswald Bold"/>
                <a:cs typeface="Oswald Bold"/>
                <a:sym typeface="Oswald Bold"/>
              </a:rPr>
              <a:t>globale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Oswald Bold"/>
                <a:cs typeface="Oswald Bold"/>
                <a:sym typeface="Oswald Bold"/>
              </a:rPr>
              <a:t> du </a:t>
            </a:r>
            <a:r>
              <a:rPr lang="fr-FR" sz="4800" dirty="0">
                <a:solidFill>
                  <a:schemeClr val="bg1"/>
                </a:solidFill>
                <a:latin typeface="+mj-lt"/>
                <a:ea typeface="Oswald Bold"/>
                <a:cs typeface="Oswald Bold"/>
                <a:sym typeface="Oswald Bold"/>
              </a:rPr>
              <a:t>système:</a:t>
            </a:r>
          </a:p>
          <a:p>
            <a:pPr algn="l">
              <a:lnSpc>
                <a:spcPts val="8595"/>
              </a:lnSpc>
            </a:pPr>
            <a:endParaRPr lang="en-US" sz="4800" dirty="0">
              <a:solidFill>
                <a:schemeClr val="bg1"/>
              </a:solidFill>
              <a:latin typeface="Century" panose="02040604050505020304" pitchFamily="18" charset="0"/>
              <a:ea typeface="Oswald Bold"/>
              <a:cs typeface="Oswald Bold"/>
              <a:sym typeface="Oswald Bold"/>
            </a:endParaRPr>
          </a:p>
        </p:txBody>
      </p:sp>
      <p:grpSp>
        <p:nvGrpSpPr>
          <p:cNvPr id="24" name="Group 9">
            <a:extLst>
              <a:ext uri="{FF2B5EF4-FFF2-40B4-BE49-F238E27FC236}">
                <a16:creationId xmlns:a16="http://schemas.microsoft.com/office/drawing/2014/main" id="{24995934-0A54-4F44-ABC6-ACB1BA049B31}"/>
              </a:ext>
            </a:extLst>
          </p:cNvPr>
          <p:cNvGrpSpPr/>
          <p:nvPr/>
        </p:nvGrpSpPr>
        <p:grpSpPr>
          <a:xfrm>
            <a:off x="14853326" y="884039"/>
            <a:ext cx="2339292" cy="754260"/>
            <a:chOff x="0" y="-38100"/>
            <a:chExt cx="616110" cy="198653"/>
          </a:xfrm>
        </p:grpSpPr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84704A9B-65CC-4C30-9B35-A984DAF3EB1F}"/>
                </a:ext>
              </a:extLst>
            </p:cNvPr>
            <p:cNvSpPr/>
            <p:nvPr/>
          </p:nvSpPr>
          <p:spPr>
            <a:xfrm>
              <a:off x="0" y="4181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C2C60BDC-69D7-4DDD-A31B-957B42A54ACF}"/>
                </a:ext>
              </a:extLst>
            </p:cNvPr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</a:t>
              </a: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</a:p>
          </p:txBody>
        </p:sp>
      </p:grpSp>
      <p:sp>
        <p:nvSpPr>
          <p:cNvPr id="27" name="Freeform 2">
            <a:extLst>
              <a:ext uri="{FF2B5EF4-FFF2-40B4-BE49-F238E27FC236}">
                <a16:creationId xmlns:a16="http://schemas.microsoft.com/office/drawing/2014/main" id="{7BBA1116-FBAE-432B-8C5A-8D5CC3E28C9F}"/>
              </a:ext>
            </a:extLst>
          </p:cNvPr>
          <p:cNvSpPr/>
          <p:nvPr/>
        </p:nvSpPr>
        <p:spPr>
          <a:xfrm>
            <a:off x="1028700" y="1028700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4">
            <a:extLst>
              <a:ext uri="{FF2B5EF4-FFF2-40B4-BE49-F238E27FC236}">
                <a16:creationId xmlns:a16="http://schemas.microsoft.com/office/drawing/2014/main" id="{1EF171DC-71A0-48FE-8DBC-8AD0F43170D4}"/>
              </a:ext>
            </a:extLst>
          </p:cNvPr>
          <p:cNvSpPr/>
          <p:nvPr/>
        </p:nvSpPr>
        <p:spPr>
          <a:xfrm>
            <a:off x="1877173" y="1105623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2"/>
          </a:solidFill>
        </p:spPr>
      </p:sp>
      <p:grpSp>
        <p:nvGrpSpPr>
          <p:cNvPr id="34" name="Group 6">
            <a:extLst>
              <a:ext uri="{FF2B5EF4-FFF2-40B4-BE49-F238E27FC236}">
                <a16:creationId xmlns:a16="http://schemas.microsoft.com/office/drawing/2014/main" id="{999CDACA-3EB2-438F-937F-A902534688AE}"/>
              </a:ext>
            </a:extLst>
          </p:cNvPr>
          <p:cNvGrpSpPr/>
          <p:nvPr/>
        </p:nvGrpSpPr>
        <p:grpSpPr>
          <a:xfrm>
            <a:off x="4344765" y="983765"/>
            <a:ext cx="2784507" cy="738385"/>
            <a:chOff x="0" y="-19362"/>
            <a:chExt cx="733368" cy="194472"/>
          </a:xfrm>
        </p:grpSpPr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81069BD8-F960-4301-953C-79E3EED86DD5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36" name="TextBox 8">
              <a:extLst>
                <a:ext uri="{FF2B5EF4-FFF2-40B4-BE49-F238E27FC236}">
                  <a16:creationId xmlns:a16="http://schemas.microsoft.com/office/drawing/2014/main" id="{4C106FC8-A356-472B-A158-CB756843FA2E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Architecture</a:t>
              </a:r>
            </a:p>
          </p:txBody>
        </p:sp>
      </p:grpSp>
      <p:grpSp>
        <p:nvGrpSpPr>
          <p:cNvPr id="12" name="Group 3">
            <a:extLst>
              <a:ext uri="{FF2B5EF4-FFF2-40B4-BE49-F238E27FC236}">
                <a16:creationId xmlns:a16="http://schemas.microsoft.com/office/drawing/2014/main" id="{FAC3742E-E605-4F45-986C-D7141EE5F48D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042C6812-3559-4404-8AC0-A201B94B5013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4759C125-E2AF-4637-B041-9919DB6D2EE9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4" name="Graphic 3" descr="Thermometer with solid fill">
            <a:extLst>
              <a:ext uri="{FF2B5EF4-FFF2-40B4-BE49-F238E27FC236}">
                <a16:creationId xmlns:a16="http://schemas.microsoft.com/office/drawing/2014/main" id="{4CFDAE78-F656-441F-B927-A32C384666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1654" y="4551927"/>
            <a:ext cx="1331472" cy="1331472"/>
          </a:xfrm>
          <a:prstGeom prst="rect">
            <a:avLst/>
          </a:prstGeom>
        </p:spPr>
      </p:pic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5068ADB4-029A-4B4B-B177-7EC5FB6C4E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55854" y="4619220"/>
            <a:ext cx="1196887" cy="1196887"/>
          </a:xfrm>
          <a:prstGeom prst="rect">
            <a:avLst/>
          </a:prstGeom>
        </p:spPr>
      </p:pic>
      <p:pic>
        <p:nvPicPr>
          <p:cNvPr id="16" name="Graphic 15" descr="Internet with solid fill">
            <a:extLst>
              <a:ext uri="{FF2B5EF4-FFF2-40B4-BE49-F238E27FC236}">
                <a16:creationId xmlns:a16="http://schemas.microsoft.com/office/drawing/2014/main" id="{C64C538D-7DC1-4AB3-B24C-0C0FEE371F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8612" y="4449540"/>
            <a:ext cx="1536247" cy="1536247"/>
          </a:xfrm>
          <a:prstGeom prst="rect">
            <a:avLst/>
          </a:prstGeom>
        </p:spPr>
      </p:pic>
      <p:pic>
        <p:nvPicPr>
          <p:cNvPr id="18" name="Graphic 17" descr="Cloud with solid fill">
            <a:extLst>
              <a:ext uri="{FF2B5EF4-FFF2-40B4-BE49-F238E27FC236}">
                <a16:creationId xmlns:a16="http://schemas.microsoft.com/office/drawing/2014/main" id="{E0CF45E1-D1F9-4EC9-B5E0-6A5EB8E024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90185" y="4527172"/>
            <a:ext cx="1380982" cy="1380982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365895-6FCE-4948-A696-C486E9FE768C}"/>
              </a:ext>
            </a:extLst>
          </p:cNvPr>
          <p:cNvCxnSpPr>
            <a:cxnSpLocks/>
          </p:cNvCxnSpPr>
          <p:nvPr/>
        </p:nvCxnSpPr>
        <p:spPr>
          <a:xfrm>
            <a:off x="4264839" y="5217663"/>
            <a:ext cx="1042173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16C51B5-91C8-4F42-B701-FBF14C29850D}"/>
              </a:ext>
            </a:extLst>
          </p:cNvPr>
          <p:cNvCxnSpPr/>
          <p:nvPr/>
        </p:nvCxnSpPr>
        <p:spPr>
          <a:xfrm>
            <a:off x="6967999" y="5217663"/>
            <a:ext cx="887855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5899691-C44F-442F-980B-E715A0F22AC0}"/>
              </a:ext>
            </a:extLst>
          </p:cNvPr>
          <p:cNvCxnSpPr/>
          <p:nvPr/>
        </p:nvCxnSpPr>
        <p:spPr>
          <a:xfrm>
            <a:off x="9144000" y="5217663"/>
            <a:ext cx="1093345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9D5803A-16A3-4CB7-A0CD-C3C33166018E}"/>
              </a:ext>
            </a:extLst>
          </p:cNvPr>
          <p:cNvCxnSpPr>
            <a:cxnSpLocks/>
          </p:cNvCxnSpPr>
          <p:nvPr/>
        </p:nvCxnSpPr>
        <p:spPr>
          <a:xfrm>
            <a:off x="11680776" y="5217663"/>
            <a:ext cx="1184729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5B9CEAB-EC84-4231-8DC1-30D4B970C3D5}"/>
              </a:ext>
            </a:extLst>
          </p:cNvPr>
          <p:cNvSpPr/>
          <p:nvPr/>
        </p:nvSpPr>
        <p:spPr>
          <a:xfrm>
            <a:off x="5307012" y="6082513"/>
            <a:ext cx="1600200" cy="60021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ESP8266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3572D5B-6C95-4573-B7A8-B72DE8C8BE08}"/>
              </a:ext>
            </a:extLst>
          </p:cNvPr>
          <p:cNvSpPr/>
          <p:nvPr/>
        </p:nvSpPr>
        <p:spPr>
          <a:xfrm>
            <a:off x="2970197" y="6082513"/>
            <a:ext cx="1600200" cy="60021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DHT11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B8BBA01-98B4-45DD-8951-D22060A7CC6F}"/>
              </a:ext>
            </a:extLst>
          </p:cNvPr>
          <p:cNvSpPr/>
          <p:nvPr/>
        </p:nvSpPr>
        <p:spPr>
          <a:xfrm>
            <a:off x="7684456" y="6108907"/>
            <a:ext cx="1539682" cy="58375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Serveur</a:t>
            </a:r>
          </a:p>
          <a:p>
            <a:pPr algn="ctr"/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Node,js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59D93F2-36F0-4F56-902A-DD1DE807691F}"/>
              </a:ext>
            </a:extLst>
          </p:cNvPr>
          <p:cNvSpPr/>
          <p:nvPr/>
        </p:nvSpPr>
        <p:spPr>
          <a:xfrm>
            <a:off x="10080576" y="6092446"/>
            <a:ext cx="1600200" cy="60021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AA3FEE3-02FE-4CE4-BBCD-4BE7D39DA816}"/>
              </a:ext>
            </a:extLst>
          </p:cNvPr>
          <p:cNvSpPr/>
          <p:nvPr/>
        </p:nvSpPr>
        <p:spPr>
          <a:xfrm>
            <a:off x="12676635" y="6092446"/>
            <a:ext cx="1600200" cy="60021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vue.js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801445DD-BE31-44F6-AFA6-C44EB91DC37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938" y="4551927"/>
            <a:ext cx="1331472" cy="1331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816821" y="943594"/>
            <a:ext cx="2339292" cy="738385"/>
            <a:chOff x="0" y="-38100"/>
            <a:chExt cx="616110" cy="1944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2</a:t>
              </a:r>
            </a:p>
          </p:txBody>
        </p:sp>
      </p:grpSp>
      <p:sp>
        <p:nvSpPr>
          <p:cNvPr id="53" name="TextBox 8">
            <a:extLst>
              <a:ext uri="{FF2B5EF4-FFF2-40B4-BE49-F238E27FC236}">
                <a16:creationId xmlns:a16="http://schemas.microsoft.com/office/drawing/2014/main" id="{26729FB5-3ACA-4D5E-B243-5C2BFE954FAC}"/>
              </a:ext>
            </a:extLst>
          </p:cNvPr>
          <p:cNvSpPr txBox="1"/>
          <p:nvPr/>
        </p:nvSpPr>
        <p:spPr>
          <a:xfrm>
            <a:off x="4344765" y="983765"/>
            <a:ext cx="4640321" cy="7383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grpSp>
        <p:nvGrpSpPr>
          <p:cNvPr id="16" name="Group 6">
            <a:extLst>
              <a:ext uri="{FF2B5EF4-FFF2-40B4-BE49-F238E27FC236}">
                <a16:creationId xmlns:a16="http://schemas.microsoft.com/office/drawing/2014/main" id="{1343D53F-5E9D-4A32-B457-D8C7B540CF50}"/>
              </a:ext>
            </a:extLst>
          </p:cNvPr>
          <p:cNvGrpSpPr/>
          <p:nvPr/>
        </p:nvGrpSpPr>
        <p:grpSpPr>
          <a:xfrm>
            <a:off x="7467260" y="983765"/>
            <a:ext cx="3503835" cy="738385"/>
            <a:chOff x="0" y="-19362"/>
            <a:chExt cx="733368" cy="194472"/>
          </a:xfrm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8C060EA1-E818-403B-942A-506871303AC4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331281F8-39F8-460E-934A-36357084B20C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sz="2499" dirty="0">
                  <a:solidFill>
                    <a:schemeClr val="bg1"/>
                  </a:solidFill>
                  <a:latin typeface="Montserrat" panose="00000500000000000000" pitchFamily="2" charset="0"/>
                  <a:ea typeface="Montserrat"/>
                  <a:cs typeface="Montserrat"/>
                  <a:sym typeface="Montserrat"/>
                </a:rPr>
                <a:t>Schéma bloc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4" name="Freeform 2">
            <a:extLst>
              <a:ext uri="{FF2B5EF4-FFF2-40B4-BE49-F238E27FC236}">
                <a16:creationId xmlns:a16="http://schemas.microsoft.com/office/drawing/2014/main" id="{A8DDEA1A-4BAE-47F4-889D-16A5A9FE66F8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3">
            <a:extLst>
              <a:ext uri="{FF2B5EF4-FFF2-40B4-BE49-F238E27FC236}">
                <a16:creationId xmlns:a16="http://schemas.microsoft.com/office/drawing/2014/main" id="{A0125E71-FA5B-4590-B8B1-D2A0D4ECA13A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26" name="Freeform 4">
              <a:extLst>
                <a:ext uri="{FF2B5EF4-FFF2-40B4-BE49-F238E27FC236}">
                  <a16:creationId xmlns:a16="http://schemas.microsoft.com/office/drawing/2014/main" id="{7C284E8A-3394-4EEC-8FCA-8A59FA852367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5">
              <a:extLst>
                <a:ext uri="{FF2B5EF4-FFF2-40B4-BE49-F238E27FC236}">
                  <a16:creationId xmlns:a16="http://schemas.microsoft.com/office/drawing/2014/main" id="{4C1F156A-B4BC-4EB3-BC56-E5C72E898B79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9D3453E2-7C8E-4548-804E-9004D6EDE3C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0" r="-420"/>
          <a:stretch/>
        </p:blipFill>
        <p:spPr>
          <a:xfrm>
            <a:off x="1270800" y="2324100"/>
            <a:ext cx="15428571" cy="7219048"/>
          </a:xfrm>
          <a:prstGeom prst="roundRect">
            <a:avLst/>
          </a:prstGeom>
          <a:ln w="12700">
            <a:solidFill>
              <a:schemeClr val="tx1"/>
            </a:solidFill>
          </a:ln>
        </p:spPr>
      </p:pic>
      <p:grpSp>
        <p:nvGrpSpPr>
          <p:cNvPr id="29" name="Group 6">
            <a:extLst>
              <a:ext uri="{FF2B5EF4-FFF2-40B4-BE49-F238E27FC236}">
                <a16:creationId xmlns:a16="http://schemas.microsoft.com/office/drawing/2014/main" id="{0D27A1B6-8FC4-41F4-A48B-F52E18159DE4}"/>
              </a:ext>
            </a:extLst>
          </p:cNvPr>
          <p:cNvGrpSpPr/>
          <p:nvPr/>
        </p:nvGrpSpPr>
        <p:grpSpPr>
          <a:xfrm>
            <a:off x="4344765" y="983765"/>
            <a:ext cx="2784507" cy="738385"/>
            <a:chOff x="0" y="-19362"/>
            <a:chExt cx="733368" cy="194472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09CF7A6E-C11C-4C99-8DAE-4C9F5694C46D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31" name="TextBox 8">
              <a:extLst>
                <a:ext uri="{FF2B5EF4-FFF2-40B4-BE49-F238E27FC236}">
                  <a16:creationId xmlns:a16="http://schemas.microsoft.com/office/drawing/2014/main" id="{632129AB-0155-4DF0-BF88-65BE3D9C8B52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Architecture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54C19DB-6892-43D2-9755-9610D35FF1C2}"/>
              </a:ext>
            </a:extLst>
          </p:cNvPr>
          <p:cNvSpPr txBox="1"/>
          <p:nvPr/>
        </p:nvSpPr>
        <p:spPr>
          <a:xfrm>
            <a:off x="4572000" y="9656219"/>
            <a:ext cx="1005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i="1" dirty="0">
                <a:solidFill>
                  <a:schemeClr val="bg1"/>
                </a:solidFill>
              </a:rPr>
              <a:t>Figure 1 : Schéma bloc du module d'acquisition (ESP8266 &amp; DHT11)</a:t>
            </a:r>
          </a:p>
        </p:txBody>
      </p:sp>
    </p:spTree>
    <p:extLst>
      <p:ext uri="{BB962C8B-B14F-4D97-AF65-F5344CB8AC3E}">
        <p14:creationId xmlns:p14="http://schemas.microsoft.com/office/powerpoint/2010/main" val="1248650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14853326" y="1028700"/>
            <a:ext cx="2339292" cy="593724"/>
            <a:chOff x="0" y="0"/>
            <a:chExt cx="616110" cy="1563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3</a:t>
              </a:r>
            </a:p>
          </p:txBody>
        </p:sp>
      </p:grpSp>
      <p:sp>
        <p:nvSpPr>
          <p:cNvPr id="38" name="Freeform 4">
            <a:extLst>
              <a:ext uri="{FF2B5EF4-FFF2-40B4-BE49-F238E27FC236}">
                <a16:creationId xmlns:a16="http://schemas.microsoft.com/office/drawing/2014/main" id="{C7461A20-548A-4859-B8ED-88BF80B458A8}"/>
              </a:ext>
            </a:extLst>
          </p:cNvPr>
          <p:cNvSpPr/>
          <p:nvPr/>
        </p:nvSpPr>
        <p:spPr>
          <a:xfrm>
            <a:off x="1877173" y="1105623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2"/>
          </a:solidFill>
        </p:spPr>
      </p:sp>
      <p:grpSp>
        <p:nvGrpSpPr>
          <p:cNvPr id="50" name="Group 6">
            <a:extLst>
              <a:ext uri="{FF2B5EF4-FFF2-40B4-BE49-F238E27FC236}">
                <a16:creationId xmlns:a16="http://schemas.microsoft.com/office/drawing/2014/main" id="{CAFF7D45-0CC7-4446-A683-9EF56679E512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FAC7A46C-3AC7-4825-B39C-CE6ADFB3336D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53" name="TextBox 8">
              <a:extLst>
                <a:ext uri="{FF2B5EF4-FFF2-40B4-BE49-F238E27FC236}">
                  <a16:creationId xmlns:a16="http://schemas.microsoft.com/office/drawing/2014/main" id="{F9B10187-1B84-4CCF-BCCE-4A2DAD7B7426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altLang="fr-FR" sz="28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</a:t>
              </a:r>
              <a:r>
                <a:rPr kumimoji="0" lang="fr-FR" altLang="fr-FR" sz="2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ystème embarqué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" name="Group 3">
            <a:extLst>
              <a:ext uri="{FF2B5EF4-FFF2-40B4-BE49-F238E27FC236}">
                <a16:creationId xmlns:a16="http://schemas.microsoft.com/office/drawing/2014/main" id="{60878ABF-4B12-428C-A10E-2E8000A567F2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EB4CF061-52A1-46BB-92DF-FB3B30326509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BF396FAD-ABDE-4FC3-B70C-7D4EBD44C28F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9" name="Freeform 2">
            <a:extLst>
              <a:ext uri="{FF2B5EF4-FFF2-40B4-BE49-F238E27FC236}">
                <a16:creationId xmlns:a16="http://schemas.microsoft.com/office/drawing/2014/main" id="{2D92A6DE-5E44-4195-B98A-CAA87DBA844D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D5835-D9D3-4641-865D-9171E08B50DB}"/>
              </a:ext>
            </a:extLst>
          </p:cNvPr>
          <p:cNvSpPr txBox="1"/>
          <p:nvPr/>
        </p:nvSpPr>
        <p:spPr>
          <a:xfrm>
            <a:off x="4220339" y="9005643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i="1" dirty="0">
                <a:solidFill>
                  <a:schemeClr val="bg1"/>
                </a:solidFill>
              </a:rPr>
              <a:t>Figure 2 : Branchement du dht11 à l’esp8266</a:t>
            </a:r>
          </a:p>
        </p:txBody>
      </p:sp>
      <p:pic>
        <p:nvPicPr>
          <p:cNvPr id="5124" name="Picture 4" descr="Monitoring Temperature and Humidity using ESP8266 and ...">
            <a:extLst>
              <a:ext uri="{FF2B5EF4-FFF2-40B4-BE49-F238E27FC236}">
                <a16:creationId xmlns:a16="http://schemas.microsoft.com/office/drawing/2014/main" id="{D559B17A-D14C-4646-A2D2-CD01DEFBF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400300"/>
            <a:ext cx="9601200" cy="637679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235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14853326" y="1028700"/>
            <a:ext cx="2339292" cy="593724"/>
            <a:chOff x="0" y="0"/>
            <a:chExt cx="616110" cy="1563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4</a:t>
              </a:r>
            </a:p>
          </p:txBody>
        </p:sp>
      </p:grpSp>
      <p:sp>
        <p:nvSpPr>
          <p:cNvPr id="38" name="Freeform 4">
            <a:extLst>
              <a:ext uri="{FF2B5EF4-FFF2-40B4-BE49-F238E27FC236}">
                <a16:creationId xmlns:a16="http://schemas.microsoft.com/office/drawing/2014/main" id="{C7461A20-548A-4859-B8ED-88BF80B458A8}"/>
              </a:ext>
            </a:extLst>
          </p:cNvPr>
          <p:cNvSpPr/>
          <p:nvPr/>
        </p:nvSpPr>
        <p:spPr>
          <a:xfrm>
            <a:off x="1877173" y="1105623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2"/>
          </a:solidFill>
        </p:spPr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596CE005-DB4C-4217-BB68-B21A18E57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006" y="2933700"/>
            <a:ext cx="10287000" cy="5469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3600" b="1" dirty="0">
                <a:solidFill>
                  <a:schemeClr val="bg1"/>
                </a:solidFill>
                <a:ea typeface="Google Sans"/>
              </a:rPr>
              <a:t>Caractéristiques de l'ESP8266 </a:t>
            </a:r>
            <a:r>
              <a:rPr lang="fr-FR" altLang="fr-FR" sz="3600" b="1" dirty="0" err="1">
                <a:solidFill>
                  <a:schemeClr val="bg1"/>
                </a:solidFill>
                <a:ea typeface="Google Sans"/>
              </a:rPr>
              <a:t>NodeMCU</a:t>
            </a:r>
            <a:r>
              <a:rPr lang="fr-FR" altLang="fr-FR" sz="3600" b="1" dirty="0">
                <a:solidFill>
                  <a:schemeClr val="bg1"/>
                </a:solidFill>
                <a:ea typeface="Google Sans"/>
              </a:rPr>
              <a:t> et pourquoi on l’a choisi ? </a:t>
            </a:r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400" b="1" dirty="0">
                <a:solidFill>
                  <a:schemeClr val="bg1"/>
                </a:solidFill>
                <a:latin typeface="+mj-lt"/>
                <a:ea typeface="Google Sans Text"/>
              </a:rPr>
              <a:t>Processeur</a:t>
            </a:r>
            <a:r>
              <a:rPr lang="fr-FR" altLang="fr-FR" sz="2400" dirty="0">
                <a:solidFill>
                  <a:schemeClr val="bg1"/>
                </a:solidFill>
                <a:latin typeface="+mj-lt"/>
                <a:ea typeface="Google Sans Text"/>
              </a:rPr>
              <a:t> : 32-bit RISC haute performance.</a:t>
            </a:r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400" b="1" dirty="0">
                <a:solidFill>
                  <a:schemeClr val="bg1"/>
                </a:solidFill>
                <a:latin typeface="+mj-lt"/>
                <a:ea typeface="Google Sans Text"/>
              </a:rPr>
              <a:t>Connectivité</a:t>
            </a:r>
            <a:r>
              <a:rPr lang="fr-FR" altLang="fr-FR" sz="2400" dirty="0">
                <a:solidFill>
                  <a:schemeClr val="bg1"/>
                </a:solidFill>
                <a:latin typeface="+mj-lt"/>
                <a:ea typeface="Google Sans Text"/>
              </a:rPr>
              <a:t> : Wi-Fi 802.11 b/g/n intégré (essentiel pour l'évolution vers le sans-fil).</a:t>
            </a:r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400" b="1" dirty="0">
                <a:solidFill>
                  <a:schemeClr val="bg1"/>
                </a:solidFill>
                <a:latin typeface="+mj-lt"/>
                <a:ea typeface="Google Sans Text"/>
              </a:rPr>
              <a:t>Entrées/Sorties</a:t>
            </a:r>
            <a:r>
              <a:rPr lang="fr-FR" altLang="fr-FR" sz="2400" dirty="0">
                <a:solidFill>
                  <a:schemeClr val="bg1"/>
                </a:solidFill>
                <a:latin typeface="+mj-lt"/>
                <a:ea typeface="Google Sans Text"/>
              </a:rPr>
              <a:t> : 10 GPIO, PWM, I2C, et 1 entrée analogique (ADC).</a:t>
            </a:r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400" b="1" dirty="0">
                <a:solidFill>
                  <a:schemeClr val="bg1"/>
                </a:solidFill>
                <a:latin typeface="+mj-lt"/>
                <a:ea typeface="Google Sans Text"/>
              </a:rPr>
              <a:t>Coût</a:t>
            </a:r>
            <a:r>
              <a:rPr lang="fr-FR" altLang="fr-FR" sz="2400" dirty="0">
                <a:solidFill>
                  <a:schemeClr val="bg1"/>
                </a:solidFill>
                <a:latin typeface="+mj-lt"/>
                <a:ea typeface="Google Sans Text"/>
              </a:rPr>
              <a:t> : Très abordable, idéal pour des solutions IoT à bas coût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grpSp>
        <p:nvGrpSpPr>
          <p:cNvPr id="12" name="Group 3">
            <a:extLst>
              <a:ext uri="{FF2B5EF4-FFF2-40B4-BE49-F238E27FC236}">
                <a16:creationId xmlns:a16="http://schemas.microsoft.com/office/drawing/2014/main" id="{ACB79784-321E-4D8B-8E6F-89502B541A6E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AC683CE6-08D4-480E-8627-9F8B994CDFA3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5">
              <a:extLst>
                <a:ext uri="{FF2B5EF4-FFF2-40B4-BE49-F238E27FC236}">
                  <a16:creationId xmlns:a16="http://schemas.microsoft.com/office/drawing/2014/main" id="{B4021E0F-D793-4070-91DD-D5EB38EC6C96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" name="Freeform 2">
            <a:extLst>
              <a:ext uri="{FF2B5EF4-FFF2-40B4-BE49-F238E27FC236}">
                <a16:creationId xmlns:a16="http://schemas.microsoft.com/office/drawing/2014/main" id="{8C017797-2C18-4118-9310-371A2313F172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6">
            <a:extLst>
              <a:ext uri="{FF2B5EF4-FFF2-40B4-BE49-F238E27FC236}">
                <a16:creationId xmlns:a16="http://schemas.microsoft.com/office/drawing/2014/main" id="{FAE65A8C-362E-4FFF-9CCC-07A9E75D4872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76159472-87FC-43C1-896D-E10B9FCB23FE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0" name="TextBox 8">
              <a:extLst>
                <a:ext uri="{FF2B5EF4-FFF2-40B4-BE49-F238E27FC236}">
                  <a16:creationId xmlns:a16="http://schemas.microsoft.com/office/drawing/2014/main" id="{4951FF53-CC9D-4E77-B05E-B2A8619B8F17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altLang="fr-FR" sz="28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</a:t>
              </a:r>
              <a:r>
                <a:rPr kumimoji="0" lang="fr-FR" altLang="fr-FR" sz="2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ystème embarqué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" name="Group 6">
            <a:extLst>
              <a:ext uri="{FF2B5EF4-FFF2-40B4-BE49-F238E27FC236}">
                <a16:creationId xmlns:a16="http://schemas.microsoft.com/office/drawing/2014/main" id="{4DE2BE47-BC15-4258-B985-56D30C13E61C}"/>
              </a:ext>
            </a:extLst>
          </p:cNvPr>
          <p:cNvGrpSpPr/>
          <p:nvPr/>
        </p:nvGrpSpPr>
        <p:grpSpPr>
          <a:xfrm>
            <a:off x="8656099" y="993713"/>
            <a:ext cx="2784507" cy="738385"/>
            <a:chOff x="0" y="-19362"/>
            <a:chExt cx="733368" cy="194472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71E366C2-ED4F-487C-B5CD-0D869397AAB1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E3047CA4-454F-45EC-83A7-762BA61E611C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ESP8266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8A3551A-CE46-463C-A2B9-1D1D720B1D55}"/>
              </a:ext>
            </a:extLst>
          </p:cNvPr>
          <p:cNvSpPr txBox="1"/>
          <p:nvPr/>
        </p:nvSpPr>
        <p:spPr>
          <a:xfrm>
            <a:off x="11630025" y="7522512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i="1" dirty="0">
                <a:solidFill>
                  <a:schemeClr val="bg1"/>
                </a:solidFill>
              </a:rPr>
              <a:t>Figure 3 : ESP8266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3D7010-04DC-48E2-9A13-AE76F3198B03}"/>
              </a:ext>
            </a:extLst>
          </p:cNvPr>
          <p:cNvSpPr/>
          <p:nvPr/>
        </p:nvSpPr>
        <p:spPr>
          <a:xfrm>
            <a:off x="11630025" y="3471317"/>
            <a:ext cx="6172200" cy="38862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Picture 6">
            <a:extLst>
              <a:ext uri="{FF2B5EF4-FFF2-40B4-BE49-F238E27FC236}">
                <a16:creationId xmlns:a16="http://schemas.microsoft.com/office/drawing/2014/main" id="{918DCBEB-0F94-49F4-AB14-534C65E46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7638" y="3471317"/>
            <a:ext cx="3835334" cy="378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719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4853326" y="1028700"/>
            <a:ext cx="2339292" cy="593724"/>
            <a:chOff x="0" y="0"/>
            <a:chExt cx="616110" cy="1563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</a:t>
              </a: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845507" y="2123495"/>
            <a:ext cx="5789119" cy="124134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lvl="1"/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reeform 4">
            <a:extLst>
              <a:ext uri="{FF2B5EF4-FFF2-40B4-BE49-F238E27FC236}">
                <a16:creationId xmlns:a16="http://schemas.microsoft.com/office/drawing/2014/main" id="{5FDF2EA5-B9FA-43CA-8AED-1E938AB5553A}"/>
              </a:ext>
            </a:extLst>
          </p:cNvPr>
          <p:cNvSpPr/>
          <p:nvPr/>
        </p:nvSpPr>
        <p:spPr>
          <a:xfrm>
            <a:off x="1877173" y="1105623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2"/>
          </a:solidFill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6A33BB-E1CC-473D-8423-E0B81DEB8855}"/>
              </a:ext>
            </a:extLst>
          </p:cNvPr>
          <p:cNvSpPr txBox="1"/>
          <p:nvPr/>
        </p:nvSpPr>
        <p:spPr>
          <a:xfrm>
            <a:off x="1499852" y="3364836"/>
            <a:ext cx="915352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800" b="1" dirty="0">
                <a:solidFill>
                  <a:schemeClr val="bg1"/>
                </a:solidFill>
                <a:latin typeface="+mj-lt"/>
                <a:ea typeface="Google Sans"/>
              </a:rPr>
              <a:t>Caractéristiques du DHT11: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2800" b="1" dirty="0">
              <a:solidFill>
                <a:schemeClr val="bg1"/>
              </a:solidFill>
              <a:latin typeface="+mj-lt"/>
              <a:ea typeface="Google Sans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Mesures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 : Température et Humidité relative.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Plage Température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 : 0</a:t>
            </a:r>
            <a:r>
              <a:rPr lang="fr-FR" sz="2800" b="0" i="0" dirty="0">
                <a:solidFill>
                  <a:schemeClr val="bg1"/>
                </a:solidFill>
                <a:effectLst/>
                <a:latin typeface="+mj-lt"/>
              </a:rPr>
              <a:t>°C 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à 50</a:t>
            </a:r>
            <a:r>
              <a:rPr lang="fr-FR" sz="2800" b="0" i="0" dirty="0">
                <a:solidFill>
                  <a:schemeClr val="bg1"/>
                </a:solidFill>
                <a:effectLst/>
                <a:latin typeface="+mj-lt"/>
              </a:rPr>
              <a:t>°C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  (erreur de 2</a:t>
            </a:r>
            <a:r>
              <a:rPr lang="fr-FR" sz="2800" b="0" i="0" dirty="0">
                <a:solidFill>
                  <a:schemeClr val="bg1"/>
                </a:solidFill>
                <a:effectLst/>
                <a:latin typeface="+mj-lt"/>
              </a:rPr>
              <a:t>°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C).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Plage Humidité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 : 20% à 90% (précision de  5%).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Signal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 : Numérique (monocâble).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2800" b="1" dirty="0">
              <a:solidFill>
                <a:schemeClr val="bg1"/>
              </a:solidFill>
              <a:latin typeface="Arial" panose="020B0604020202020204" pitchFamily="34" charset="0"/>
              <a:ea typeface="Google Sans"/>
            </a:endParaRPr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ABC6D71D-944B-4FB3-9380-BC3833885EAF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42964FDE-6146-4E5B-8DD4-70BCEACB48A9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4D07D482-5955-47A5-A3F5-577A192B8FD7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" name="Freeform 2">
            <a:extLst>
              <a:ext uri="{FF2B5EF4-FFF2-40B4-BE49-F238E27FC236}">
                <a16:creationId xmlns:a16="http://schemas.microsoft.com/office/drawing/2014/main" id="{446023AB-88E4-4A54-863C-9437F258EA50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6">
            <a:extLst>
              <a:ext uri="{FF2B5EF4-FFF2-40B4-BE49-F238E27FC236}">
                <a16:creationId xmlns:a16="http://schemas.microsoft.com/office/drawing/2014/main" id="{41400B5C-8385-4717-8FC0-5A443B63A4A9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B95823F-FAC8-4522-950C-399F82BCC5B7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19" name="TextBox 8">
              <a:extLst>
                <a:ext uri="{FF2B5EF4-FFF2-40B4-BE49-F238E27FC236}">
                  <a16:creationId xmlns:a16="http://schemas.microsoft.com/office/drawing/2014/main" id="{094D679A-C608-43A5-835B-0A2D8F690ADA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altLang="fr-FR" sz="28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</a:t>
              </a:r>
              <a:r>
                <a:rPr kumimoji="0" lang="fr-FR" altLang="fr-FR" sz="2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ystème embarqué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" name="Group 6">
            <a:extLst>
              <a:ext uri="{FF2B5EF4-FFF2-40B4-BE49-F238E27FC236}">
                <a16:creationId xmlns:a16="http://schemas.microsoft.com/office/drawing/2014/main" id="{50FED40C-3C4C-4DA6-8C00-AAD77EAB3056}"/>
              </a:ext>
            </a:extLst>
          </p:cNvPr>
          <p:cNvGrpSpPr/>
          <p:nvPr/>
        </p:nvGrpSpPr>
        <p:grpSpPr>
          <a:xfrm>
            <a:off x="8589948" y="983765"/>
            <a:ext cx="2784507" cy="738385"/>
            <a:chOff x="0" y="-19362"/>
            <a:chExt cx="733368" cy="194472"/>
          </a:xfrm>
        </p:grpSpPr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750D3263-92C3-4EFD-9E5D-66E202E69B71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2" name="TextBox 8">
              <a:extLst>
                <a:ext uri="{FF2B5EF4-FFF2-40B4-BE49-F238E27FC236}">
                  <a16:creationId xmlns:a16="http://schemas.microsoft.com/office/drawing/2014/main" id="{8B912C76-F281-49A7-85D3-3DF67B1D142A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DHT11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E504352-6581-4EA8-A87E-099875A2DF43}"/>
              </a:ext>
            </a:extLst>
          </p:cNvPr>
          <p:cNvSpPr txBox="1"/>
          <p:nvPr/>
        </p:nvSpPr>
        <p:spPr>
          <a:xfrm>
            <a:off x="10740741" y="7886700"/>
            <a:ext cx="9158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i="1" dirty="0">
                <a:solidFill>
                  <a:schemeClr val="bg1"/>
                </a:solidFill>
              </a:rPr>
              <a:t>Figure 4 :DHT11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8F7BE-4F49-404D-A626-755AC1D30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5993" y="2696609"/>
            <a:ext cx="5511826" cy="5190091"/>
          </a:xfrm>
          <a:prstGeom prst="round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816821" y="943594"/>
            <a:ext cx="2339292" cy="738385"/>
            <a:chOff x="0" y="-38100"/>
            <a:chExt cx="616110" cy="1944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6</a:t>
              </a:r>
            </a:p>
          </p:txBody>
        </p:sp>
      </p:grpSp>
      <p:sp>
        <p:nvSpPr>
          <p:cNvPr id="49" name="Freeform 4">
            <a:extLst>
              <a:ext uri="{FF2B5EF4-FFF2-40B4-BE49-F238E27FC236}">
                <a16:creationId xmlns:a16="http://schemas.microsoft.com/office/drawing/2014/main" id="{1FA41D9A-0D74-4F4C-AC77-EF30CF6C22D4}"/>
              </a:ext>
            </a:extLst>
          </p:cNvPr>
          <p:cNvSpPr/>
          <p:nvPr/>
        </p:nvSpPr>
        <p:spPr>
          <a:xfrm>
            <a:off x="1877173" y="1105623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2"/>
          </a:solid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CA1E4-479B-48D9-9874-7DEB372543FA}"/>
              </a:ext>
            </a:extLst>
          </p:cNvPr>
          <p:cNvSpPr txBox="1"/>
          <p:nvPr/>
        </p:nvSpPr>
        <p:spPr>
          <a:xfrm>
            <a:off x="1141412" y="2476500"/>
            <a:ext cx="8353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Logique du microcontrôleur :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78768DC-4EB0-43BA-B0E4-36A8A38115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8594141"/>
              </p:ext>
            </p:extLst>
          </p:nvPr>
        </p:nvGraphicFramePr>
        <p:xfrm>
          <a:off x="2743200" y="3390900"/>
          <a:ext cx="10896600" cy="642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2" name="Group 3">
            <a:extLst>
              <a:ext uri="{FF2B5EF4-FFF2-40B4-BE49-F238E27FC236}">
                <a16:creationId xmlns:a16="http://schemas.microsoft.com/office/drawing/2014/main" id="{E4B3F902-E331-428C-A556-D5C0D81E044F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F14423C7-DF42-4F58-9E22-201AD0D32D5E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68B9B3AB-FB61-484A-B4BC-CC726FBE427F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</a:p>
          </p:txBody>
        </p:sp>
      </p:grpSp>
      <p:sp>
        <p:nvSpPr>
          <p:cNvPr id="18" name="Freeform 2">
            <a:extLst>
              <a:ext uri="{FF2B5EF4-FFF2-40B4-BE49-F238E27FC236}">
                <a16:creationId xmlns:a16="http://schemas.microsoft.com/office/drawing/2014/main" id="{27914811-E3EC-467F-9850-1314F775B47E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6">
            <a:extLst>
              <a:ext uri="{FF2B5EF4-FFF2-40B4-BE49-F238E27FC236}">
                <a16:creationId xmlns:a16="http://schemas.microsoft.com/office/drawing/2014/main" id="{54450F1F-3B0C-4748-862A-55C2CB7468A1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AB22A551-DC1E-4FDF-BE0B-C6C040490BCB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1" name="TextBox 8">
              <a:extLst>
                <a:ext uri="{FF2B5EF4-FFF2-40B4-BE49-F238E27FC236}">
                  <a16:creationId xmlns:a16="http://schemas.microsoft.com/office/drawing/2014/main" id="{4FDC8717-3024-446A-A79C-088BB6ABC9B2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altLang="fr-FR" sz="28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</a:t>
              </a:r>
              <a:r>
                <a:rPr kumimoji="0" lang="fr-FR" altLang="fr-FR" sz="2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ystème embarqué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816821" y="943594"/>
            <a:ext cx="2339292" cy="738385"/>
            <a:chOff x="0" y="-38100"/>
            <a:chExt cx="616110" cy="1944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7</a:t>
              </a:r>
            </a:p>
          </p:txBody>
        </p:sp>
      </p:grpSp>
      <p:sp>
        <p:nvSpPr>
          <p:cNvPr id="49" name="Freeform 4">
            <a:extLst>
              <a:ext uri="{FF2B5EF4-FFF2-40B4-BE49-F238E27FC236}">
                <a16:creationId xmlns:a16="http://schemas.microsoft.com/office/drawing/2014/main" id="{1FA41D9A-0D74-4F4C-AC77-EF30CF6C22D4}"/>
              </a:ext>
            </a:extLst>
          </p:cNvPr>
          <p:cNvSpPr/>
          <p:nvPr/>
        </p:nvSpPr>
        <p:spPr>
          <a:xfrm>
            <a:off x="1877173" y="1105623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2"/>
          </a:solid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CA1E4-479B-48D9-9874-7DEB372543FA}"/>
              </a:ext>
            </a:extLst>
          </p:cNvPr>
          <p:cNvSpPr txBox="1"/>
          <p:nvPr/>
        </p:nvSpPr>
        <p:spPr>
          <a:xfrm>
            <a:off x="1141412" y="2476500"/>
            <a:ext cx="8353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+mj-lt"/>
              <a:buAutoNum type="romanUcPeriod"/>
            </a:pPr>
            <a:r>
              <a:rPr lang="fr-FR" sz="3600" b="1" dirty="0">
                <a:solidFill>
                  <a:schemeClr val="bg1"/>
                </a:solidFill>
              </a:rPr>
              <a:t>Le Backend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97FDC1-DEF7-4B4C-A01A-4E3D7377AEC9}"/>
              </a:ext>
            </a:extLst>
          </p:cNvPr>
          <p:cNvSpPr txBox="1"/>
          <p:nvPr/>
        </p:nvSpPr>
        <p:spPr>
          <a:xfrm>
            <a:off x="1141412" y="4381500"/>
            <a:ext cx="9158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FEC9AB6-CE19-47E3-8283-58F4F3F6E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3" y="3516511"/>
            <a:ext cx="11064877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Environnement de développement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: Utilisation de 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Node.js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et du Framework 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Express.js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Gestion du flux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: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Liaison Série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: Communication directe avec l'ESP8266 pour la réception des mesures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Diffusion interactive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: Transmission des données vers l'application PWA pour un affichage en temps réel.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3" name="Picture 7">
            <a:extLst>
              <a:ext uri="{FF2B5EF4-FFF2-40B4-BE49-F238E27FC236}">
                <a16:creationId xmlns:a16="http://schemas.microsoft.com/office/drawing/2014/main" id="{93E1923C-60BF-44D0-BEF6-A3E0675AD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7749" y="3929731"/>
            <a:ext cx="2549072" cy="2427538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3">
            <a:extLst>
              <a:ext uri="{FF2B5EF4-FFF2-40B4-BE49-F238E27FC236}">
                <a16:creationId xmlns:a16="http://schemas.microsoft.com/office/drawing/2014/main" id="{428EDFB3-4715-47C4-A3FF-E4F04A0EA122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FCC2FFF0-7B2C-4539-93C7-328B6AB72F35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D222F684-599C-4F5B-A4F2-AD35804326E8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" name="Freeform 2">
            <a:extLst>
              <a:ext uri="{FF2B5EF4-FFF2-40B4-BE49-F238E27FC236}">
                <a16:creationId xmlns:a16="http://schemas.microsoft.com/office/drawing/2014/main" id="{C18172A9-CFA3-469C-8483-1EC3E249D5AB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6">
            <a:extLst>
              <a:ext uri="{FF2B5EF4-FFF2-40B4-BE49-F238E27FC236}">
                <a16:creationId xmlns:a16="http://schemas.microsoft.com/office/drawing/2014/main" id="{2C80956C-5F67-493F-9744-E12E0463F439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D536068B-9256-4C77-A52F-6ED567533647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6F5FC9E5-F735-40E5-B6BE-BC1554CC2768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altLang="fr-FR" sz="24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Developpement</a:t>
              </a:r>
              <a:r>
                <a:rPr lang="fr-FR" altLang="fr-FR" sz="2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logiciel</a:t>
              </a:r>
              <a:endParaRPr lang="en-US" sz="2400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4" name="Group 6">
            <a:extLst>
              <a:ext uri="{FF2B5EF4-FFF2-40B4-BE49-F238E27FC236}">
                <a16:creationId xmlns:a16="http://schemas.microsoft.com/office/drawing/2014/main" id="{8882090A-C043-46F6-95BE-4841F76FD3F6}"/>
              </a:ext>
            </a:extLst>
          </p:cNvPr>
          <p:cNvGrpSpPr/>
          <p:nvPr/>
        </p:nvGrpSpPr>
        <p:grpSpPr>
          <a:xfrm>
            <a:off x="8589948" y="983765"/>
            <a:ext cx="2784507" cy="738385"/>
            <a:chOff x="0" y="-19362"/>
            <a:chExt cx="733368" cy="194472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1A6C8D77-5B7B-4DB9-B3F2-B5505C9425B2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6" name="TextBox 8">
              <a:extLst>
                <a:ext uri="{FF2B5EF4-FFF2-40B4-BE49-F238E27FC236}">
                  <a16:creationId xmlns:a16="http://schemas.microsoft.com/office/drawing/2014/main" id="{F945D9E8-15C7-4F5B-BC1F-612F945C85A6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Backend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1BB204A-F737-4F30-A9FF-9F44E87E2F52}"/>
              </a:ext>
            </a:extLst>
          </p:cNvPr>
          <p:cNvSpPr txBox="1"/>
          <p:nvPr/>
        </p:nvSpPr>
        <p:spPr>
          <a:xfrm>
            <a:off x="12267749" y="6515100"/>
            <a:ext cx="2286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i="1" dirty="0">
                <a:solidFill>
                  <a:schemeClr val="bg1"/>
                </a:solidFill>
              </a:rPr>
              <a:t>Figure </a:t>
            </a:r>
            <a:r>
              <a:rPr lang="fr-FR" i="1" dirty="0">
                <a:solidFill>
                  <a:schemeClr val="bg1"/>
                </a:solidFill>
              </a:rPr>
              <a:t>5</a:t>
            </a:r>
            <a:r>
              <a:rPr lang="fr-FR" sz="1800" i="1" dirty="0">
                <a:solidFill>
                  <a:schemeClr val="bg1"/>
                </a:solidFill>
              </a:rPr>
              <a:t> : Node.js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14B5D-5DD3-4E9A-8181-4CC4F5938064}"/>
              </a:ext>
            </a:extLst>
          </p:cNvPr>
          <p:cNvSpPr txBox="1"/>
          <p:nvPr/>
        </p:nvSpPr>
        <p:spPr>
          <a:xfrm>
            <a:off x="15110734" y="6515100"/>
            <a:ext cx="2278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i="1" dirty="0">
                <a:solidFill>
                  <a:schemeClr val="bg1"/>
                </a:solidFill>
              </a:rPr>
              <a:t>Figure 6 : Express.js</a:t>
            </a:r>
          </a:p>
        </p:txBody>
      </p:sp>
      <p:pic>
        <p:nvPicPr>
          <p:cNvPr id="1032" name="Picture 8" descr="Getting started with Express.js - Keeping it simple! | Ajeet ...">
            <a:extLst>
              <a:ext uri="{FF2B5EF4-FFF2-40B4-BE49-F238E27FC236}">
                <a16:creationId xmlns:a16="http://schemas.microsoft.com/office/drawing/2014/main" id="{11207783-5A32-41F1-B6D3-A254A05D3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0734" y="3929731"/>
            <a:ext cx="2286000" cy="22860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267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14853326" y="1028700"/>
            <a:ext cx="2339292" cy="593724"/>
            <a:chOff x="0" y="0"/>
            <a:chExt cx="616110" cy="1563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8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2D4F49-39F5-734C-A458-C8422DFD3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886929"/>
            <a:ext cx="10744200" cy="6324600"/>
          </a:xfrm>
          <a:prstGeom prst="rect">
            <a:avLst/>
          </a:prstGeom>
        </p:spPr>
      </p:pic>
      <p:sp>
        <p:nvSpPr>
          <p:cNvPr id="16" name="Freeform 2">
            <a:extLst>
              <a:ext uri="{FF2B5EF4-FFF2-40B4-BE49-F238E27FC236}">
                <a16:creationId xmlns:a16="http://schemas.microsoft.com/office/drawing/2014/main" id="{B93012F5-C62E-4527-B332-F7EF9B57A931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80FA3B17-F933-47C8-9096-7CEE75A73F09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004F1D97-C389-4DCF-84CD-EE1B1EA1E4B7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FE969844-A77C-4D35-AAE0-962CD7164BC3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" name="Group 6">
            <a:extLst>
              <a:ext uri="{FF2B5EF4-FFF2-40B4-BE49-F238E27FC236}">
                <a16:creationId xmlns:a16="http://schemas.microsoft.com/office/drawing/2014/main" id="{E5DE13DE-4195-4157-938F-1BC41A8BACF4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FEB7A36B-46A4-4CA7-8EDD-1B334C28EB23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2" name="TextBox 8">
              <a:extLst>
                <a:ext uri="{FF2B5EF4-FFF2-40B4-BE49-F238E27FC236}">
                  <a16:creationId xmlns:a16="http://schemas.microsoft.com/office/drawing/2014/main" id="{B0EF8D88-97A3-4667-B2D2-2793A356D15F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altLang="fr-FR" sz="24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Developpement</a:t>
              </a:r>
              <a:r>
                <a:rPr lang="fr-FR" altLang="fr-FR" sz="2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logiciel</a:t>
              </a:r>
              <a:endParaRPr lang="en-US" sz="2400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3" name="Group 6">
            <a:extLst>
              <a:ext uri="{FF2B5EF4-FFF2-40B4-BE49-F238E27FC236}">
                <a16:creationId xmlns:a16="http://schemas.microsoft.com/office/drawing/2014/main" id="{F2137118-94D7-42AE-B094-2D8E2EF67F06}"/>
              </a:ext>
            </a:extLst>
          </p:cNvPr>
          <p:cNvGrpSpPr/>
          <p:nvPr/>
        </p:nvGrpSpPr>
        <p:grpSpPr>
          <a:xfrm>
            <a:off x="8589948" y="994069"/>
            <a:ext cx="2784507" cy="738385"/>
            <a:chOff x="0" y="-19362"/>
            <a:chExt cx="733368" cy="194472"/>
          </a:xfrm>
        </p:grpSpPr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72EDEF47-DC2A-4BEB-8A7C-5BA95E7922ED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745241EA-DBB7-4B4B-A482-2A2B42D4D3BB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Backend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B967336-8040-40B4-977C-1B299FDE987B}"/>
              </a:ext>
            </a:extLst>
          </p:cNvPr>
          <p:cNvSpPr txBox="1"/>
          <p:nvPr/>
        </p:nvSpPr>
        <p:spPr>
          <a:xfrm>
            <a:off x="3502691" y="9486900"/>
            <a:ext cx="9158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i="1" dirty="0">
                <a:solidFill>
                  <a:schemeClr val="bg1"/>
                </a:solidFill>
              </a:rPr>
              <a:t>Figure </a:t>
            </a:r>
            <a:r>
              <a:rPr lang="fr-FR" i="1" dirty="0">
                <a:solidFill>
                  <a:schemeClr val="bg1"/>
                </a:solidFill>
              </a:rPr>
              <a:t>7 </a:t>
            </a:r>
            <a:r>
              <a:rPr lang="fr-FR" sz="1800" i="1" dirty="0">
                <a:solidFill>
                  <a:schemeClr val="bg1"/>
                </a:solidFill>
              </a:rPr>
              <a:t>: Affichage console de </a:t>
            </a:r>
            <a:r>
              <a:rPr lang="fr-FR" sz="1800" i="1" dirty="0" err="1">
                <a:solidFill>
                  <a:schemeClr val="bg1"/>
                </a:solidFill>
              </a:rPr>
              <a:t>l’arduino</a:t>
            </a:r>
            <a:endParaRPr lang="fr-FR" sz="18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816821" y="943594"/>
            <a:ext cx="2339292" cy="738385"/>
            <a:chOff x="0" y="-38100"/>
            <a:chExt cx="616110" cy="1944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45CA1E4-479B-48D9-9874-7DEB372543FA}"/>
              </a:ext>
            </a:extLst>
          </p:cNvPr>
          <p:cNvSpPr txBox="1"/>
          <p:nvPr/>
        </p:nvSpPr>
        <p:spPr>
          <a:xfrm>
            <a:off x="914400" y="2552700"/>
            <a:ext cx="11812588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  <a:latin typeface="+mj-lt"/>
              </a:rPr>
              <a:t> II.  Le frontend (L’interface) :</a:t>
            </a:r>
          </a:p>
          <a:p>
            <a:endParaRPr lang="fr-FR" sz="3600" b="1" dirty="0">
              <a:solidFill>
                <a:schemeClr val="bg1"/>
              </a:solidFill>
              <a:latin typeface="+mj-lt"/>
            </a:endParaRP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Framework Vue.js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 : Choix d'une bibliothèque réactive pour une mise à jour instantanée de l'interface.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Google Sans Text"/>
            </a:endParaRP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Technologie PWA (Progressive Web App)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 : Application installable sur smartphone sans passer par un store.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Google Sans Text"/>
            </a:endParaRP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Affichage en temps réel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 : Utilisation des </a:t>
            </a: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WebSockets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Google Sans Text"/>
              </a:rPr>
              <a:t> pour recevoir les données sans rafraîchir la page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.</a:t>
            </a:r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fr-FR" sz="3600" b="1" dirty="0">
              <a:solidFill>
                <a:schemeClr val="bg1"/>
              </a:solidFill>
            </a:endParaRPr>
          </a:p>
          <a:p>
            <a:endParaRPr lang="fr-FR" sz="3600" b="1" dirty="0">
              <a:solidFill>
                <a:schemeClr val="bg1"/>
              </a:solidFill>
            </a:endParaRPr>
          </a:p>
          <a:p>
            <a:endParaRPr lang="fr-FR" sz="36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C7D25-3363-13B3-9252-8373342BA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8404" y="3832080"/>
            <a:ext cx="3056834" cy="2622839"/>
          </a:xfrm>
          <a:prstGeom prst="rect">
            <a:avLst/>
          </a:prstGeom>
        </p:spPr>
      </p:pic>
      <p:grpSp>
        <p:nvGrpSpPr>
          <p:cNvPr id="21" name="Group 3">
            <a:extLst>
              <a:ext uri="{FF2B5EF4-FFF2-40B4-BE49-F238E27FC236}">
                <a16:creationId xmlns:a16="http://schemas.microsoft.com/office/drawing/2014/main" id="{D92F559C-B3E5-41DF-85B0-4D3E747A2FA3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22" name="Freeform 4">
              <a:extLst>
                <a:ext uri="{FF2B5EF4-FFF2-40B4-BE49-F238E27FC236}">
                  <a16:creationId xmlns:a16="http://schemas.microsoft.com/office/drawing/2014/main" id="{968A97C7-23B3-4F28-94A5-7967C35440D3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5">
              <a:extLst>
                <a:ext uri="{FF2B5EF4-FFF2-40B4-BE49-F238E27FC236}">
                  <a16:creationId xmlns:a16="http://schemas.microsoft.com/office/drawing/2014/main" id="{8DC5D5AD-DD9B-4B08-8300-3FEC138CADDA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4" name="Freeform 2">
            <a:extLst>
              <a:ext uri="{FF2B5EF4-FFF2-40B4-BE49-F238E27FC236}">
                <a16:creationId xmlns:a16="http://schemas.microsoft.com/office/drawing/2014/main" id="{BCEC1499-FDE0-4C99-916F-2C21AB11C6F6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6">
            <a:extLst>
              <a:ext uri="{FF2B5EF4-FFF2-40B4-BE49-F238E27FC236}">
                <a16:creationId xmlns:a16="http://schemas.microsoft.com/office/drawing/2014/main" id="{01B3C7FC-F110-4A22-938D-91F1F7FAD42A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F50A0B38-54F4-403C-955E-364ED7E7369C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7" name="TextBox 8">
              <a:extLst>
                <a:ext uri="{FF2B5EF4-FFF2-40B4-BE49-F238E27FC236}">
                  <a16:creationId xmlns:a16="http://schemas.microsoft.com/office/drawing/2014/main" id="{77448145-E588-41B2-9C16-A40C5D85A3DE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altLang="fr-FR" sz="24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Developpement</a:t>
              </a:r>
              <a:r>
                <a:rPr lang="fr-FR" altLang="fr-FR" sz="2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logiciel</a:t>
              </a:r>
              <a:endParaRPr lang="en-US" sz="2400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" name="Group 6">
            <a:extLst>
              <a:ext uri="{FF2B5EF4-FFF2-40B4-BE49-F238E27FC236}">
                <a16:creationId xmlns:a16="http://schemas.microsoft.com/office/drawing/2014/main" id="{D5C7E21F-1FD9-4DDB-8491-73D1C4F753F8}"/>
              </a:ext>
            </a:extLst>
          </p:cNvPr>
          <p:cNvGrpSpPr/>
          <p:nvPr/>
        </p:nvGrpSpPr>
        <p:grpSpPr>
          <a:xfrm>
            <a:off x="8568295" y="983765"/>
            <a:ext cx="2784507" cy="738385"/>
            <a:chOff x="0" y="-19362"/>
            <a:chExt cx="733368" cy="194472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91D47160-4BF6-47CF-9201-FA8568C04122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6A92B25-F702-4635-8B26-D45090062AB4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Frontend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7E67368-DBBD-4FB6-8FA8-B1C7ACDC9DC2}"/>
              </a:ext>
            </a:extLst>
          </p:cNvPr>
          <p:cNvSpPr txBox="1"/>
          <p:nvPr/>
        </p:nvSpPr>
        <p:spPr>
          <a:xfrm>
            <a:off x="13277518" y="6896100"/>
            <a:ext cx="2800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i="1" dirty="0">
                <a:solidFill>
                  <a:schemeClr val="bg1"/>
                </a:solidFill>
              </a:rPr>
              <a:t>Figure 8 : Vue.js</a:t>
            </a:r>
          </a:p>
        </p:txBody>
      </p:sp>
    </p:spTree>
    <p:extLst>
      <p:ext uri="{BB962C8B-B14F-4D97-AF65-F5344CB8AC3E}">
        <p14:creationId xmlns:p14="http://schemas.microsoft.com/office/powerpoint/2010/main" val="3966207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816821" y="943594"/>
            <a:ext cx="2339292" cy="738385"/>
            <a:chOff x="0" y="-38100"/>
            <a:chExt cx="616110" cy="1944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10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0E21E2E-E243-46D3-BBF7-F542C8A7A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124" y="2171700"/>
            <a:ext cx="15093752" cy="7494829"/>
          </a:xfrm>
          <a:prstGeom prst="rect">
            <a:avLst/>
          </a:prstGeom>
        </p:spPr>
      </p:pic>
      <p:sp>
        <p:nvSpPr>
          <p:cNvPr id="19" name="Freeform 2">
            <a:extLst>
              <a:ext uri="{FF2B5EF4-FFF2-40B4-BE49-F238E27FC236}">
                <a16:creationId xmlns:a16="http://schemas.microsoft.com/office/drawing/2014/main" id="{299E20C1-D500-4B69-B7C1-B870570C23D2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754C6DEC-19D8-42DB-AB93-7465B5BCBFF0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E3F498E9-35BA-47DD-9498-D9D163A02574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8576BA7B-0C7B-4459-B928-91B8CB01DED0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5" name="Group 6">
            <a:extLst>
              <a:ext uri="{FF2B5EF4-FFF2-40B4-BE49-F238E27FC236}">
                <a16:creationId xmlns:a16="http://schemas.microsoft.com/office/drawing/2014/main" id="{941C21DB-BE02-4021-A8DA-19E44026062B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90FA06C5-C9F5-441F-90CF-6DDB53A09D02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7" name="TextBox 8">
              <a:extLst>
                <a:ext uri="{FF2B5EF4-FFF2-40B4-BE49-F238E27FC236}">
                  <a16:creationId xmlns:a16="http://schemas.microsoft.com/office/drawing/2014/main" id="{4595954B-8AEE-4D56-B69E-117487C43570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altLang="fr-FR" sz="24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Developpement</a:t>
              </a:r>
              <a:r>
                <a:rPr lang="fr-FR" altLang="fr-FR" sz="2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logiciel</a:t>
              </a:r>
              <a:endParaRPr lang="en-US" sz="2400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" name="Group 6">
            <a:extLst>
              <a:ext uri="{FF2B5EF4-FFF2-40B4-BE49-F238E27FC236}">
                <a16:creationId xmlns:a16="http://schemas.microsoft.com/office/drawing/2014/main" id="{524B7572-9216-4AA5-9836-88C8AA93955E}"/>
              </a:ext>
            </a:extLst>
          </p:cNvPr>
          <p:cNvGrpSpPr/>
          <p:nvPr/>
        </p:nvGrpSpPr>
        <p:grpSpPr>
          <a:xfrm>
            <a:off x="8589948" y="952857"/>
            <a:ext cx="2784507" cy="738385"/>
            <a:chOff x="0" y="-19362"/>
            <a:chExt cx="733368" cy="194472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F7C4479D-959B-4427-B869-A13D546E3D66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D7BC59E-397E-41CD-BE93-BA985882938F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Frontend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5F91AC1-AB3E-4E8F-9FB4-EB0078933E3F}"/>
              </a:ext>
            </a:extLst>
          </p:cNvPr>
          <p:cNvSpPr txBox="1"/>
          <p:nvPr/>
        </p:nvSpPr>
        <p:spPr>
          <a:xfrm>
            <a:off x="1447800" y="9759447"/>
            <a:ext cx="1165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i="1" dirty="0">
                <a:solidFill>
                  <a:schemeClr val="bg1"/>
                </a:solidFill>
              </a:rPr>
              <a:t>Figure 9 : </a:t>
            </a:r>
            <a:r>
              <a:rPr lang="fr-FR" sz="2400" dirty="0">
                <a:solidFill>
                  <a:schemeClr val="bg1"/>
                </a:solidFill>
              </a:rPr>
              <a:t>Tableau de bord de la station IoT : Suivi des mesures et console</a:t>
            </a:r>
            <a:endParaRPr lang="fr-FR" sz="2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815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807295" y="943594"/>
            <a:ext cx="2348818" cy="738385"/>
            <a:chOff x="-2509" y="-38100"/>
            <a:chExt cx="618619" cy="194472"/>
          </a:xfrm>
        </p:grpSpPr>
        <p:sp>
          <p:nvSpPr>
            <p:cNvPr id="14" name="Freeform 14"/>
            <p:cNvSpPr/>
            <p:nvPr/>
          </p:nvSpPr>
          <p:spPr>
            <a:xfrm>
              <a:off x="-2509" y="-1254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</a:t>
              </a: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11</a:t>
              </a:r>
            </a:p>
          </p:txBody>
        </p:sp>
      </p:grpSp>
      <p:sp>
        <p:nvSpPr>
          <p:cNvPr id="53" name="TextBox 8">
            <a:extLst>
              <a:ext uri="{FF2B5EF4-FFF2-40B4-BE49-F238E27FC236}">
                <a16:creationId xmlns:a16="http://schemas.microsoft.com/office/drawing/2014/main" id="{26729FB5-3ACA-4D5E-B243-5C2BFE954FAC}"/>
              </a:ext>
            </a:extLst>
          </p:cNvPr>
          <p:cNvSpPr txBox="1"/>
          <p:nvPr/>
        </p:nvSpPr>
        <p:spPr>
          <a:xfrm>
            <a:off x="4344765" y="983765"/>
            <a:ext cx="4640321" cy="7383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CA1E4-479B-48D9-9874-7DEB372543FA}"/>
              </a:ext>
            </a:extLst>
          </p:cNvPr>
          <p:cNvSpPr txBox="1"/>
          <p:nvPr/>
        </p:nvSpPr>
        <p:spPr>
          <a:xfrm>
            <a:off x="1408112" y="3924300"/>
            <a:ext cx="118125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 Notre système a-t-il répondu à nos attentes ?</a:t>
            </a:r>
          </a:p>
          <a:p>
            <a:endParaRPr lang="fr-FR" sz="3600" b="1" dirty="0">
              <a:solidFill>
                <a:schemeClr val="bg1"/>
              </a:solidFill>
            </a:endParaRPr>
          </a:p>
          <a:p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331281F8-39F8-460E-934A-36357084B20C}"/>
              </a:ext>
            </a:extLst>
          </p:cNvPr>
          <p:cNvSpPr txBox="1"/>
          <p:nvPr/>
        </p:nvSpPr>
        <p:spPr>
          <a:xfrm>
            <a:off x="4344765" y="983765"/>
            <a:ext cx="4640321" cy="7383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A6DD5C-6A5A-4A90-BFB4-9AB90878EDE5}"/>
              </a:ext>
            </a:extLst>
          </p:cNvPr>
          <p:cNvSpPr/>
          <p:nvPr/>
        </p:nvSpPr>
        <p:spPr>
          <a:xfrm>
            <a:off x="3810000" y="6114143"/>
            <a:ext cx="3278188" cy="1600200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Montserrat" panose="00000500000000000000" pitchFamily="2" charset="0"/>
              </a:rPr>
              <a:t>Interface Utilisateur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942394-BAD5-44EF-98A8-E112CBBECCC8}"/>
              </a:ext>
            </a:extLst>
          </p:cNvPr>
          <p:cNvSpPr/>
          <p:nvPr/>
        </p:nvSpPr>
        <p:spPr>
          <a:xfrm>
            <a:off x="9525002" y="6114143"/>
            <a:ext cx="3278188" cy="1600200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Esp 8266 </a:t>
            </a:r>
            <a:r>
              <a:rPr lang="fr-FR" sz="2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NodeMCU</a:t>
            </a:r>
            <a:endParaRPr lang="fr-FR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AEC5A6-61ED-44C7-8481-C7F646619779}"/>
              </a:ext>
            </a:extLst>
          </p:cNvPr>
          <p:cNvCxnSpPr/>
          <p:nvPr/>
        </p:nvCxnSpPr>
        <p:spPr>
          <a:xfrm>
            <a:off x="7239000" y="6901543"/>
            <a:ext cx="2133600" cy="0"/>
          </a:xfrm>
          <a:prstGeom prst="straightConnector1">
            <a:avLst/>
          </a:prstGeom>
          <a:ln w="142875">
            <a:solidFill>
              <a:schemeClr val="bg1">
                <a:alpha val="60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oup 3">
            <a:extLst>
              <a:ext uri="{FF2B5EF4-FFF2-40B4-BE49-F238E27FC236}">
                <a16:creationId xmlns:a16="http://schemas.microsoft.com/office/drawing/2014/main" id="{25CB629F-10AE-4400-AF8E-9B2583E3A653}"/>
              </a:ext>
            </a:extLst>
          </p:cNvPr>
          <p:cNvGrpSpPr/>
          <p:nvPr/>
        </p:nvGrpSpPr>
        <p:grpSpPr>
          <a:xfrm>
            <a:off x="1862165" y="1042725"/>
            <a:ext cx="2163259" cy="648517"/>
            <a:chOff x="-11924" y="-23669"/>
            <a:chExt cx="569747" cy="194472"/>
          </a:xfrm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B1CA4A47-EC1D-4C9D-9685-DA41CCA22FCF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815EE139-A349-4ED3-9457-D76F30978837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2" name="Freeform 2">
            <a:extLst>
              <a:ext uri="{FF2B5EF4-FFF2-40B4-BE49-F238E27FC236}">
                <a16:creationId xmlns:a16="http://schemas.microsoft.com/office/drawing/2014/main" id="{DB6CF870-D447-4FDE-9929-E6616227720E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6">
            <a:extLst>
              <a:ext uri="{FF2B5EF4-FFF2-40B4-BE49-F238E27FC236}">
                <a16:creationId xmlns:a16="http://schemas.microsoft.com/office/drawing/2014/main" id="{4232103B-B618-4C38-8793-877FEA8A6F61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5106A013-9B23-4E22-B3A5-5D827C6E43E3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35B6741B-1D30-4ABF-85D3-36CA048D88B4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sz="2400" dirty="0">
                  <a:solidFill>
                    <a:schemeClr val="bg1"/>
                  </a:solidFill>
                </a:rPr>
                <a:t>Résultats et amélioration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195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816821" y="943594"/>
            <a:ext cx="2339292" cy="738385"/>
            <a:chOff x="0" y="-38100"/>
            <a:chExt cx="616110" cy="1944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12</a:t>
              </a:r>
            </a:p>
          </p:txBody>
        </p:sp>
      </p:grpSp>
      <p:sp>
        <p:nvSpPr>
          <p:cNvPr id="53" name="TextBox 8">
            <a:extLst>
              <a:ext uri="{FF2B5EF4-FFF2-40B4-BE49-F238E27FC236}">
                <a16:creationId xmlns:a16="http://schemas.microsoft.com/office/drawing/2014/main" id="{26729FB5-3ACA-4D5E-B243-5C2BFE954FAC}"/>
              </a:ext>
            </a:extLst>
          </p:cNvPr>
          <p:cNvSpPr txBox="1"/>
          <p:nvPr/>
        </p:nvSpPr>
        <p:spPr>
          <a:xfrm>
            <a:off x="4344765" y="983765"/>
            <a:ext cx="4640321" cy="7383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CA1E4-479B-48D9-9874-7DEB372543FA}"/>
              </a:ext>
            </a:extLst>
          </p:cNvPr>
          <p:cNvSpPr txBox="1"/>
          <p:nvPr/>
        </p:nvSpPr>
        <p:spPr>
          <a:xfrm>
            <a:off x="1387330" y="2990283"/>
            <a:ext cx="118125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chemeClr val="bg1"/>
                </a:solidFill>
              </a:rPr>
              <a:t>Amélioration proposées !</a:t>
            </a:r>
          </a:p>
          <a:p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331281F8-39F8-460E-934A-36357084B20C}"/>
              </a:ext>
            </a:extLst>
          </p:cNvPr>
          <p:cNvSpPr txBox="1"/>
          <p:nvPr/>
        </p:nvSpPr>
        <p:spPr>
          <a:xfrm>
            <a:off x="4344765" y="983765"/>
            <a:ext cx="4640321" cy="7383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CD81B5-6917-4AD7-89B6-B55CB7B21D1F}"/>
              </a:ext>
            </a:extLst>
          </p:cNvPr>
          <p:cNvSpPr txBox="1"/>
          <p:nvPr/>
        </p:nvSpPr>
        <p:spPr>
          <a:xfrm>
            <a:off x="1387330" y="3771900"/>
            <a:ext cx="1072945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Signalisation audio-visuelle</a:t>
            </a:r>
          </a:p>
          <a:p>
            <a:endParaRPr lang="fr-FR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chemeClr val="bg1"/>
                </a:solidFill>
              </a:rPr>
              <a:t>Objectif</a:t>
            </a:r>
            <a:r>
              <a:rPr lang="fr-FR" sz="2800" dirty="0">
                <a:solidFill>
                  <a:schemeClr val="bg1"/>
                </a:solidFill>
              </a:rPr>
              <a:t> : Avoir un retour d'état immédiat sans regarder l'application.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chemeClr val="bg1"/>
                </a:solidFill>
              </a:rPr>
              <a:t>Intégration</a:t>
            </a:r>
            <a:r>
              <a:rPr lang="fr-FR" sz="2800" dirty="0">
                <a:solidFill>
                  <a:schemeClr val="bg1"/>
                </a:solidFill>
              </a:rPr>
              <a:t> </a:t>
            </a:r>
            <a:r>
              <a:rPr lang="fr-FR" sz="2800" b="1" dirty="0">
                <a:solidFill>
                  <a:schemeClr val="bg1"/>
                </a:solidFill>
              </a:rPr>
              <a:t>de </a:t>
            </a:r>
            <a:r>
              <a:rPr lang="fr-FR" sz="2800" b="1" dirty="0" err="1">
                <a:solidFill>
                  <a:schemeClr val="bg1"/>
                </a:solidFill>
              </a:rPr>
              <a:t>LEDs</a:t>
            </a:r>
            <a:r>
              <a:rPr lang="fr-FR" sz="2800" b="1" dirty="0">
                <a:solidFill>
                  <a:schemeClr val="bg1"/>
                </a:solidFill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chemeClr val="bg1"/>
                </a:solidFill>
              </a:rPr>
              <a:t>Logique implémentée</a:t>
            </a:r>
            <a:r>
              <a:rPr lang="fr-FR" sz="2800" dirty="0">
                <a:solidFill>
                  <a:schemeClr val="bg1"/>
                </a:solidFill>
              </a:rPr>
              <a:t> 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chemeClr val="bg1"/>
                </a:solidFill>
              </a:rPr>
              <a:t>LED Verte</a:t>
            </a:r>
            <a:r>
              <a:rPr lang="fr-FR" sz="2800" dirty="0">
                <a:solidFill>
                  <a:schemeClr val="bg1"/>
                </a:solidFill>
              </a:rPr>
              <a:t> : Système actif / Mesures normales.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chemeClr val="bg1"/>
                </a:solidFill>
              </a:rPr>
              <a:t>LED Rouge</a:t>
            </a:r>
            <a:r>
              <a:rPr lang="fr-FR" sz="2800" dirty="0">
                <a:solidFill>
                  <a:schemeClr val="bg1"/>
                </a:solidFill>
              </a:rPr>
              <a:t> : Alerte (Dépassement de seuil de température/humidité).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chemeClr val="bg1"/>
                </a:solidFill>
              </a:rPr>
              <a:t>Ajout d’une alarme sonore (buzzer)</a:t>
            </a:r>
            <a:r>
              <a:rPr lang="fr-FR" sz="2800" dirty="0">
                <a:solidFill>
                  <a:schemeClr val="bg1"/>
                </a:solidFill>
              </a:rPr>
              <a:t> en cas d’alerte.</a:t>
            </a:r>
          </a:p>
        </p:txBody>
      </p:sp>
      <p:sp>
        <p:nvSpPr>
          <p:cNvPr id="23" name="Freeform 2">
            <a:extLst>
              <a:ext uri="{FF2B5EF4-FFF2-40B4-BE49-F238E27FC236}">
                <a16:creationId xmlns:a16="http://schemas.microsoft.com/office/drawing/2014/main" id="{186C3A22-0D39-4AE3-B1E2-2D9A70D8C438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3">
            <a:extLst>
              <a:ext uri="{FF2B5EF4-FFF2-40B4-BE49-F238E27FC236}">
                <a16:creationId xmlns:a16="http://schemas.microsoft.com/office/drawing/2014/main" id="{6B827531-7841-4B14-BA74-5129343AFFD4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25" name="Freeform 4">
              <a:extLst>
                <a:ext uri="{FF2B5EF4-FFF2-40B4-BE49-F238E27FC236}">
                  <a16:creationId xmlns:a16="http://schemas.microsoft.com/office/drawing/2014/main" id="{3AE82E2E-FA4C-4868-9E3A-21C2975CE7CB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5">
              <a:extLst>
                <a:ext uri="{FF2B5EF4-FFF2-40B4-BE49-F238E27FC236}">
                  <a16:creationId xmlns:a16="http://schemas.microsoft.com/office/drawing/2014/main" id="{D573AA03-3554-49BF-A48F-6FA717445A67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7" name="Group 6">
            <a:extLst>
              <a:ext uri="{FF2B5EF4-FFF2-40B4-BE49-F238E27FC236}">
                <a16:creationId xmlns:a16="http://schemas.microsoft.com/office/drawing/2014/main" id="{C14755A2-CCDA-4467-81B8-6B0BEC7EF7C7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40C8043-B371-4381-B0DA-331E39399C78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9" name="TextBox 8">
              <a:extLst>
                <a:ext uri="{FF2B5EF4-FFF2-40B4-BE49-F238E27FC236}">
                  <a16:creationId xmlns:a16="http://schemas.microsoft.com/office/drawing/2014/main" id="{B84BB719-E9DD-4D85-8206-E776E5A1CE9C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sz="2400" dirty="0">
                  <a:solidFill>
                    <a:schemeClr val="bg1"/>
                  </a:solidFill>
                </a:rPr>
                <a:t>Résultats et amélioration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734492D-09B5-4A2F-B12F-5C039A87DF83}"/>
              </a:ext>
            </a:extLst>
          </p:cNvPr>
          <p:cNvSpPr/>
          <p:nvPr/>
        </p:nvSpPr>
        <p:spPr>
          <a:xfrm>
            <a:off x="1295400" y="2933700"/>
            <a:ext cx="14020800" cy="6781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0" name="Group 22">
            <a:extLst>
              <a:ext uri="{FF2B5EF4-FFF2-40B4-BE49-F238E27FC236}">
                <a16:creationId xmlns:a16="http://schemas.microsoft.com/office/drawing/2014/main" id="{B70FAE5D-A4E4-4D01-9328-61CF306AFE29}"/>
              </a:ext>
            </a:extLst>
          </p:cNvPr>
          <p:cNvGrpSpPr/>
          <p:nvPr/>
        </p:nvGrpSpPr>
        <p:grpSpPr>
          <a:xfrm>
            <a:off x="14400188" y="2405076"/>
            <a:ext cx="1291911" cy="1291911"/>
            <a:chOff x="0" y="0"/>
            <a:chExt cx="812800" cy="812800"/>
          </a:xfrm>
        </p:grpSpPr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CB31C7D3-74BE-427C-9F4E-C85B1584EC4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B53C"/>
            </a:solidFill>
          </p:spPr>
        </p:sp>
        <p:sp>
          <p:nvSpPr>
            <p:cNvPr id="32" name="TextBox 24">
              <a:extLst>
                <a:ext uri="{FF2B5EF4-FFF2-40B4-BE49-F238E27FC236}">
                  <a16:creationId xmlns:a16="http://schemas.microsoft.com/office/drawing/2014/main" id="{FCBE57A5-543D-43A6-8773-B80471F53F1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23">
            <a:extLst>
              <a:ext uri="{FF2B5EF4-FFF2-40B4-BE49-F238E27FC236}">
                <a16:creationId xmlns:a16="http://schemas.microsoft.com/office/drawing/2014/main" id="{D42EE648-06EC-4D1F-90DD-265A06A941C6}"/>
              </a:ext>
            </a:extLst>
          </p:cNvPr>
          <p:cNvSpPr/>
          <p:nvPr/>
        </p:nvSpPr>
        <p:spPr>
          <a:xfrm>
            <a:off x="14730159" y="2723630"/>
            <a:ext cx="646599" cy="709839"/>
          </a:xfrm>
          <a:custGeom>
            <a:avLst/>
            <a:gdLst/>
            <a:ahLst/>
            <a:cxnLst/>
            <a:rect l="l" t="t" r="r" b="b"/>
            <a:pathLst>
              <a:path w="646599" h="709839">
                <a:moveTo>
                  <a:pt x="0" y="0"/>
                </a:moveTo>
                <a:lnTo>
                  <a:pt x="646599" y="0"/>
                </a:lnTo>
                <a:lnTo>
                  <a:pt x="646599" y="709839"/>
                </a:lnTo>
                <a:lnTo>
                  <a:pt x="0" y="709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1817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816821" y="943594"/>
            <a:ext cx="2339292" cy="738385"/>
            <a:chOff x="0" y="-38100"/>
            <a:chExt cx="616110" cy="1944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13</a:t>
              </a:r>
            </a:p>
          </p:txBody>
        </p:sp>
      </p:grpSp>
      <p:sp>
        <p:nvSpPr>
          <p:cNvPr id="53" name="TextBox 8">
            <a:extLst>
              <a:ext uri="{FF2B5EF4-FFF2-40B4-BE49-F238E27FC236}">
                <a16:creationId xmlns:a16="http://schemas.microsoft.com/office/drawing/2014/main" id="{26729FB5-3ACA-4D5E-B243-5C2BFE954FAC}"/>
              </a:ext>
            </a:extLst>
          </p:cNvPr>
          <p:cNvSpPr txBox="1"/>
          <p:nvPr/>
        </p:nvSpPr>
        <p:spPr>
          <a:xfrm>
            <a:off x="4344765" y="983765"/>
            <a:ext cx="4640321" cy="7383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D5C92-CB12-4E96-B2C9-CB9E1355D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00" y="2095501"/>
            <a:ext cx="8458200" cy="5715000"/>
          </a:xfrm>
          <a:prstGeom prst="roundRect">
            <a:avLst/>
          </a:prstGeom>
          <a:ln w="19050">
            <a:solidFill>
              <a:schemeClr val="bg1"/>
            </a:solidFill>
          </a:ln>
        </p:spPr>
      </p:pic>
      <p:sp>
        <p:nvSpPr>
          <p:cNvPr id="19" name="Freeform 2">
            <a:extLst>
              <a:ext uri="{FF2B5EF4-FFF2-40B4-BE49-F238E27FC236}">
                <a16:creationId xmlns:a16="http://schemas.microsoft.com/office/drawing/2014/main" id="{19E68509-0406-4A4E-BEA0-1B8EF8277552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3">
            <a:extLst>
              <a:ext uri="{FF2B5EF4-FFF2-40B4-BE49-F238E27FC236}">
                <a16:creationId xmlns:a16="http://schemas.microsoft.com/office/drawing/2014/main" id="{D22AAC7D-E6C3-43B5-A0CE-4D8C9C209008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21" name="Freeform 4">
              <a:extLst>
                <a:ext uri="{FF2B5EF4-FFF2-40B4-BE49-F238E27FC236}">
                  <a16:creationId xmlns:a16="http://schemas.microsoft.com/office/drawing/2014/main" id="{ED6F9C53-BAB8-4378-A9C0-4B73B4BB7FF6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5">
              <a:extLst>
                <a:ext uri="{FF2B5EF4-FFF2-40B4-BE49-F238E27FC236}">
                  <a16:creationId xmlns:a16="http://schemas.microsoft.com/office/drawing/2014/main" id="{33B41C5D-3D76-485D-BA51-91DF725A27B6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3" name="Group 6">
            <a:extLst>
              <a:ext uri="{FF2B5EF4-FFF2-40B4-BE49-F238E27FC236}">
                <a16:creationId xmlns:a16="http://schemas.microsoft.com/office/drawing/2014/main" id="{BE49088C-90A1-4C05-BE8D-4D34BE355140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37262936-615F-42F4-802A-B3C02352FFB7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0882EEC2-F5DE-45D6-A7AF-A0F283A416EE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sz="2400" dirty="0">
                  <a:solidFill>
                    <a:schemeClr val="bg1"/>
                  </a:solidFill>
                </a:rPr>
                <a:t>Résultats et amélioration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CCBADBEC-A5A6-488A-AE5A-A18D41DED1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228" y="2095501"/>
            <a:ext cx="7306972" cy="5715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A14DB2-75CC-4ED9-AB9C-B8557CB0C1AE}"/>
              </a:ext>
            </a:extLst>
          </p:cNvPr>
          <p:cNvSpPr txBox="1"/>
          <p:nvPr/>
        </p:nvSpPr>
        <p:spPr>
          <a:xfrm>
            <a:off x="1219200" y="8191500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bg1"/>
                </a:solidFill>
              </a:rPr>
              <a:t>Figure 10: Intégration de </a:t>
            </a:r>
            <a:r>
              <a:rPr lang="fr-FR" i="1" dirty="0" err="1">
                <a:solidFill>
                  <a:schemeClr val="bg1"/>
                </a:solidFill>
              </a:rPr>
              <a:t>Led</a:t>
            </a:r>
            <a:r>
              <a:rPr lang="fr-FR" i="1" dirty="0">
                <a:solidFill>
                  <a:schemeClr val="bg1"/>
                </a:solidFill>
              </a:rPr>
              <a:t> à notre système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B46644-C002-421D-B26D-0FBFE147A313}"/>
              </a:ext>
            </a:extLst>
          </p:cNvPr>
          <p:cNvSpPr txBox="1"/>
          <p:nvPr/>
        </p:nvSpPr>
        <p:spPr>
          <a:xfrm>
            <a:off x="10237564" y="8182428"/>
            <a:ext cx="9158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>
                <a:solidFill>
                  <a:schemeClr val="bg1"/>
                </a:solidFill>
              </a:rPr>
              <a:t>Figure 11: Simulation du système avec les </a:t>
            </a:r>
            <a:r>
              <a:rPr lang="fr-FR" i="1" dirty="0" err="1">
                <a:solidFill>
                  <a:schemeClr val="bg1"/>
                </a:solidFill>
              </a:rPr>
              <a:t>Leds</a:t>
            </a:r>
            <a:endParaRPr lang="fr-FR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612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816821" y="943594"/>
            <a:ext cx="2339292" cy="738385"/>
            <a:chOff x="0" y="-38100"/>
            <a:chExt cx="616110" cy="1944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14</a:t>
              </a:r>
            </a:p>
          </p:txBody>
        </p:sp>
      </p:grpSp>
      <p:sp>
        <p:nvSpPr>
          <p:cNvPr id="49" name="Freeform 4">
            <a:extLst>
              <a:ext uri="{FF2B5EF4-FFF2-40B4-BE49-F238E27FC236}">
                <a16:creationId xmlns:a16="http://schemas.microsoft.com/office/drawing/2014/main" id="{1FA41D9A-0D74-4F4C-AC77-EF30CF6C22D4}"/>
              </a:ext>
            </a:extLst>
          </p:cNvPr>
          <p:cNvSpPr/>
          <p:nvPr/>
        </p:nvSpPr>
        <p:spPr>
          <a:xfrm>
            <a:off x="1877173" y="1105623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2"/>
          </a:solidFill>
        </p:spPr>
      </p:sp>
      <p:sp>
        <p:nvSpPr>
          <p:cNvPr id="53" name="TextBox 8">
            <a:extLst>
              <a:ext uri="{FF2B5EF4-FFF2-40B4-BE49-F238E27FC236}">
                <a16:creationId xmlns:a16="http://schemas.microsoft.com/office/drawing/2014/main" id="{26729FB5-3ACA-4D5E-B243-5C2BFE954FAC}"/>
              </a:ext>
            </a:extLst>
          </p:cNvPr>
          <p:cNvSpPr txBox="1"/>
          <p:nvPr/>
        </p:nvSpPr>
        <p:spPr>
          <a:xfrm>
            <a:off x="4344765" y="983765"/>
            <a:ext cx="4640321" cy="7383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grpSp>
        <p:nvGrpSpPr>
          <p:cNvPr id="20" name="Group 3">
            <a:extLst>
              <a:ext uri="{FF2B5EF4-FFF2-40B4-BE49-F238E27FC236}">
                <a16:creationId xmlns:a16="http://schemas.microsoft.com/office/drawing/2014/main" id="{12F3BD38-C38C-45FC-AE83-4CA4547F390C}"/>
              </a:ext>
            </a:extLst>
          </p:cNvPr>
          <p:cNvGrpSpPr/>
          <p:nvPr/>
        </p:nvGrpSpPr>
        <p:grpSpPr>
          <a:xfrm>
            <a:off x="846079" y="2978815"/>
            <a:ext cx="2147012" cy="648517"/>
            <a:chOff x="-154174" y="54405"/>
            <a:chExt cx="565468" cy="194472"/>
          </a:xfrm>
        </p:grpSpPr>
        <p:sp>
          <p:nvSpPr>
            <p:cNvPr id="21" name="Freeform 4">
              <a:extLst>
                <a:ext uri="{FF2B5EF4-FFF2-40B4-BE49-F238E27FC236}">
                  <a16:creationId xmlns:a16="http://schemas.microsoft.com/office/drawing/2014/main" id="{0C90FE8A-3C1E-46F2-B56B-8A72CBA6A9F5}"/>
                </a:ext>
              </a:extLst>
            </p:cNvPr>
            <p:cNvSpPr/>
            <p:nvPr/>
          </p:nvSpPr>
          <p:spPr>
            <a:xfrm>
              <a:off x="-154174" y="83423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2" name="TextBox 5">
              <a:extLst>
                <a:ext uri="{FF2B5EF4-FFF2-40B4-BE49-F238E27FC236}">
                  <a16:creationId xmlns:a16="http://schemas.microsoft.com/office/drawing/2014/main" id="{490EDF90-CC8C-483B-920D-E0AFEECFCEC2}"/>
                </a:ext>
              </a:extLst>
            </p:cNvPr>
            <p:cNvSpPr txBox="1"/>
            <p:nvPr/>
          </p:nvSpPr>
          <p:spPr>
            <a:xfrm>
              <a:off x="-154174" y="54405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Points forts</a:t>
              </a: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B5D006-5AEE-4DC1-8418-FBBC8D699B7B}"/>
              </a:ext>
            </a:extLst>
          </p:cNvPr>
          <p:cNvSpPr/>
          <p:nvPr/>
        </p:nvSpPr>
        <p:spPr>
          <a:xfrm>
            <a:off x="846079" y="3924300"/>
            <a:ext cx="7010400" cy="4876800"/>
          </a:xfrm>
          <a:prstGeom prst="roundRect">
            <a:avLst/>
          </a:prstGeom>
          <a:solidFill>
            <a:srgbClr val="ECE0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bg1"/>
                </a:solidFill>
              </a:rPr>
              <a:t>Maîtrise de bout en bout (Full-Stack)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bg1"/>
                </a:solidFill>
              </a:rPr>
              <a:t>Temps réel et Bidirectionnel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bg1"/>
                </a:solidFill>
              </a:rPr>
              <a:t>Accessibilité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bg1"/>
                </a:solidFill>
              </a:rPr>
              <a:t>Coût et transparence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250000"/>
              </a:lnSpc>
            </a:pPr>
            <a:endParaRPr lang="fr-FR" sz="2400" dirty="0">
              <a:solidFill>
                <a:schemeClr val="bg1"/>
              </a:solidFill>
            </a:endParaRPr>
          </a:p>
        </p:txBody>
      </p:sp>
      <p:grpSp>
        <p:nvGrpSpPr>
          <p:cNvPr id="23" name="Group 3">
            <a:extLst>
              <a:ext uri="{FF2B5EF4-FFF2-40B4-BE49-F238E27FC236}">
                <a16:creationId xmlns:a16="http://schemas.microsoft.com/office/drawing/2014/main" id="{0871ACDD-D3B6-4333-B276-AC636F3EDF3F}"/>
              </a:ext>
            </a:extLst>
          </p:cNvPr>
          <p:cNvGrpSpPr/>
          <p:nvPr/>
        </p:nvGrpSpPr>
        <p:grpSpPr>
          <a:xfrm>
            <a:off x="10159352" y="3075583"/>
            <a:ext cx="2147012" cy="648517"/>
            <a:chOff x="-154174" y="54405"/>
            <a:chExt cx="565468" cy="194472"/>
          </a:xfrm>
        </p:grpSpPr>
        <p:sp>
          <p:nvSpPr>
            <p:cNvPr id="24" name="Freeform 4">
              <a:extLst>
                <a:ext uri="{FF2B5EF4-FFF2-40B4-BE49-F238E27FC236}">
                  <a16:creationId xmlns:a16="http://schemas.microsoft.com/office/drawing/2014/main" id="{0FAC91FC-2BB8-4673-AED1-1F3E02922C10}"/>
                </a:ext>
              </a:extLst>
            </p:cNvPr>
            <p:cNvSpPr/>
            <p:nvPr/>
          </p:nvSpPr>
          <p:spPr>
            <a:xfrm>
              <a:off x="-154174" y="83423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5" name="TextBox 5">
              <a:extLst>
                <a:ext uri="{FF2B5EF4-FFF2-40B4-BE49-F238E27FC236}">
                  <a16:creationId xmlns:a16="http://schemas.microsoft.com/office/drawing/2014/main" id="{2198E6B7-451F-4CD3-AFBC-404B02648ED7}"/>
                </a:ext>
              </a:extLst>
            </p:cNvPr>
            <p:cNvSpPr txBox="1"/>
            <p:nvPr/>
          </p:nvSpPr>
          <p:spPr>
            <a:xfrm>
              <a:off x="-154174" y="54405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Limites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DDCD36B-CEDE-4813-BEA7-44E94C8D82BA}"/>
              </a:ext>
            </a:extLst>
          </p:cNvPr>
          <p:cNvSpPr/>
          <p:nvPr/>
        </p:nvSpPr>
        <p:spPr>
          <a:xfrm>
            <a:off x="10134600" y="3848100"/>
            <a:ext cx="7010400" cy="4876800"/>
          </a:xfrm>
          <a:prstGeom prst="roundRect">
            <a:avLst/>
          </a:prstGeom>
          <a:solidFill>
            <a:srgbClr val="ECE0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Dépendance locale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: Le serveur Node.js tourne localement sur l'ordinateur. Le système s'arrête si le PC est éteint.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Sécurité basique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: Pas encore de système d'authentification (mot de passe) pour accéder à l'interface de contrôle.</a:t>
            </a: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A3FB49E5-22F4-4D75-BD4A-25FD418D64CA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27" name="Freeform 4">
              <a:extLst>
                <a:ext uri="{FF2B5EF4-FFF2-40B4-BE49-F238E27FC236}">
                  <a16:creationId xmlns:a16="http://schemas.microsoft.com/office/drawing/2014/main" id="{6069EB2E-F89E-43A0-B80D-96AC02181E81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5">
              <a:extLst>
                <a:ext uri="{FF2B5EF4-FFF2-40B4-BE49-F238E27FC236}">
                  <a16:creationId xmlns:a16="http://schemas.microsoft.com/office/drawing/2014/main" id="{EF9F9D4C-E8D1-4A07-832F-43ED086D2625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2" name="Freeform 2">
            <a:extLst>
              <a:ext uri="{FF2B5EF4-FFF2-40B4-BE49-F238E27FC236}">
                <a16:creationId xmlns:a16="http://schemas.microsoft.com/office/drawing/2014/main" id="{DCC0A0B2-FDB0-4F4B-8769-F78894D2E299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6">
            <a:extLst>
              <a:ext uri="{FF2B5EF4-FFF2-40B4-BE49-F238E27FC236}">
                <a16:creationId xmlns:a16="http://schemas.microsoft.com/office/drawing/2014/main" id="{47E15779-513B-408E-9098-80A2C0C1E23A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4F07605F-C533-4226-A271-1066A95EA000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35" name="TextBox 8">
              <a:extLst>
                <a:ext uri="{FF2B5EF4-FFF2-40B4-BE49-F238E27FC236}">
                  <a16:creationId xmlns:a16="http://schemas.microsoft.com/office/drawing/2014/main" id="{BB859EB6-E0BC-49A6-9901-78B30601C6CC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sz="2400" dirty="0">
                  <a:solidFill>
                    <a:schemeClr val="bg1"/>
                  </a:solidFill>
                </a:rPr>
                <a:t>Résultats et amélioration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8464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816821" y="943594"/>
            <a:ext cx="2339292" cy="738385"/>
            <a:chOff x="0" y="-38100"/>
            <a:chExt cx="616110" cy="1944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6110" cy="156372"/>
            </a:xfrm>
            <a:custGeom>
              <a:avLst/>
              <a:gdLst/>
              <a:ahLst/>
              <a:cxnLst/>
              <a:rect l="l" t="t" r="r" b="b"/>
              <a:pathLst>
                <a:path w="616110" h="156372">
                  <a:moveTo>
                    <a:pt x="78186" y="0"/>
                  </a:moveTo>
                  <a:lnTo>
                    <a:pt x="537924" y="0"/>
                  </a:lnTo>
                  <a:cubicBezTo>
                    <a:pt x="558660" y="0"/>
                    <a:pt x="578547" y="8237"/>
                    <a:pt x="593210" y="22900"/>
                  </a:cubicBezTo>
                  <a:cubicBezTo>
                    <a:pt x="607872" y="37563"/>
                    <a:pt x="616110" y="57450"/>
                    <a:pt x="616110" y="78186"/>
                  </a:cubicBezTo>
                  <a:lnTo>
                    <a:pt x="616110" y="78186"/>
                  </a:lnTo>
                  <a:cubicBezTo>
                    <a:pt x="616110" y="98922"/>
                    <a:pt x="607872" y="118809"/>
                    <a:pt x="593210" y="133472"/>
                  </a:cubicBezTo>
                  <a:cubicBezTo>
                    <a:pt x="578547" y="148134"/>
                    <a:pt x="558660" y="156372"/>
                    <a:pt x="53792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1611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15</a:t>
              </a:r>
            </a:p>
          </p:txBody>
        </p:sp>
      </p:grpSp>
      <p:sp>
        <p:nvSpPr>
          <p:cNvPr id="49" name="Freeform 4">
            <a:extLst>
              <a:ext uri="{FF2B5EF4-FFF2-40B4-BE49-F238E27FC236}">
                <a16:creationId xmlns:a16="http://schemas.microsoft.com/office/drawing/2014/main" id="{1FA41D9A-0D74-4F4C-AC77-EF30CF6C22D4}"/>
              </a:ext>
            </a:extLst>
          </p:cNvPr>
          <p:cNvSpPr/>
          <p:nvPr/>
        </p:nvSpPr>
        <p:spPr>
          <a:xfrm>
            <a:off x="1877173" y="1105623"/>
            <a:ext cx="2147012" cy="521463"/>
          </a:xfrm>
          <a:custGeom>
            <a:avLst/>
            <a:gdLst/>
            <a:ahLst/>
            <a:cxnLst/>
            <a:rect l="l" t="t" r="r" b="b"/>
            <a:pathLst>
              <a:path w="565468" h="156372">
                <a:moveTo>
                  <a:pt x="78186" y="0"/>
                </a:moveTo>
                <a:lnTo>
                  <a:pt x="487282" y="0"/>
                </a:lnTo>
                <a:cubicBezTo>
                  <a:pt x="508018" y="0"/>
                  <a:pt x="527905" y="8237"/>
                  <a:pt x="542568" y="22900"/>
                </a:cubicBezTo>
                <a:cubicBezTo>
                  <a:pt x="557231" y="37563"/>
                  <a:pt x="565468" y="57450"/>
                  <a:pt x="565468" y="78186"/>
                </a:cubicBezTo>
                <a:lnTo>
                  <a:pt x="565468" y="78186"/>
                </a:lnTo>
                <a:cubicBezTo>
                  <a:pt x="565468" y="98922"/>
                  <a:pt x="557231" y="118809"/>
                  <a:pt x="542568" y="133472"/>
                </a:cubicBezTo>
                <a:cubicBezTo>
                  <a:pt x="527905" y="148134"/>
                  <a:pt x="508018" y="156372"/>
                  <a:pt x="487282" y="156372"/>
                </a:cubicBezTo>
                <a:lnTo>
                  <a:pt x="78186" y="156372"/>
                </a:lnTo>
                <a:cubicBezTo>
                  <a:pt x="57450" y="156372"/>
                  <a:pt x="37563" y="148134"/>
                  <a:pt x="22900" y="133472"/>
                </a:cubicBezTo>
                <a:cubicBezTo>
                  <a:pt x="8237" y="118809"/>
                  <a:pt x="0" y="98922"/>
                  <a:pt x="0" y="78186"/>
                </a:cubicBezTo>
                <a:lnTo>
                  <a:pt x="0" y="78186"/>
                </a:lnTo>
                <a:cubicBezTo>
                  <a:pt x="0" y="57450"/>
                  <a:pt x="8237" y="37563"/>
                  <a:pt x="22900" y="22900"/>
                </a:cubicBezTo>
                <a:cubicBezTo>
                  <a:pt x="37563" y="8237"/>
                  <a:pt x="57450" y="0"/>
                  <a:pt x="78186" y="0"/>
                </a:cubicBezTo>
                <a:close/>
              </a:path>
            </a:pathLst>
          </a:custGeom>
          <a:solidFill>
            <a:schemeClr val="tx2"/>
          </a:solidFill>
        </p:spPr>
      </p:sp>
      <p:sp>
        <p:nvSpPr>
          <p:cNvPr id="53" name="TextBox 8">
            <a:extLst>
              <a:ext uri="{FF2B5EF4-FFF2-40B4-BE49-F238E27FC236}">
                <a16:creationId xmlns:a16="http://schemas.microsoft.com/office/drawing/2014/main" id="{26729FB5-3ACA-4D5E-B243-5C2BFE954FAC}"/>
              </a:ext>
            </a:extLst>
          </p:cNvPr>
          <p:cNvSpPr txBox="1"/>
          <p:nvPr/>
        </p:nvSpPr>
        <p:spPr>
          <a:xfrm>
            <a:off x="4344765" y="983765"/>
            <a:ext cx="4640321" cy="7383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A3FB49E5-22F4-4D75-BD4A-25FD418D64CA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27" name="Freeform 4">
              <a:extLst>
                <a:ext uri="{FF2B5EF4-FFF2-40B4-BE49-F238E27FC236}">
                  <a16:creationId xmlns:a16="http://schemas.microsoft.com/office/drawing/2014/main" id="{6069EB2E-F89E-43A0-B80D-96AC02181E81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5">
              <a:extLst>
                <a:ext uri="{FF2B5EF4-FFF2-40B4-BE49-F238E27FC236}">
                  <a16:creationId xmlns:a16="http://schemas.microsoft.com/office/drawing/2014/main" id="{EF9F9D4C-E8D1-4A07-832F-43ED086D2625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2" name="Freeform 2">
            <a:extLst>
              <a:ext uri="{FF2B5EF4-FFF2-40B4-BE49-F238E27FC236}">
                <a16:creationId xmlns:a16="http://schemas.microsoft.com/office/drawing/2014/main" id="{DCC0A0B2-FDB0-4F4B-8769-F78894D2E299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6">
            <a:extLst>
              <a:ext uri="{FF2B5EF4-FFF2-40B4-BE49-F238E27FC236}">
                <a16:creationId xmlns:a16="http://schemas.microsoft.com/office/drawing/2014/main" id="{47E15779-513B-408E-9098-80A2C0C1E23A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4F07605F-C533-4226-A271-1066A95EA000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35" name="TextBox 8">
              <a:extLst>
                <a:ext uri="{FF2B5EF4-FFF2-40B4-BE49-F238E27FC236}">
                  <a16:creationId xmlns:a16="http://schemas.microsoft.com/office/drawing/2014/main" id="{BB859EB6-E0BC-49A6-9901-78B30601C6CC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sz="2400" dirty="0">
                  <a:solidFill>
                    <a:schemeClr val="bg1"/>
                  </a:solidFill>
                </a:rPr>
                <a:t>Résultats et amélioration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D3321C0-73CF-43B1-9C9A-325059384C7D}"/>
              </a:ext>
            </a:extLst>
          </p:cNvPr>
          <p:cNvSpPr txBox="1"/>
          <p:nvPr/>
        </p:nvSpPr>
        <p:spPr>
          <a:xfrm>
            <a:off x="1311276" y="3425955"/>
            <a:ext cx="11947524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Hébergement Cloud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 : Pour accéder aux données partout dans le monde.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Communication Wi-Fi directe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 : Supprimer la liaison filaire série actuelle.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Authentification utilisateur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 : Ajouter une connexion sécurisée par mot de passe.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Historique des données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 : Intégrer une base de données pour analyser l'évolution sur un an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DA6546-96CB-4FB4-81DC-3D01390D4AC0}"/>
              </a:ext>
            </a:extLst>
          </p:cNvPr>
          <p:cNvSpPr txBox="1"/>
          <p:nvPr/>
        </p:nvSpPr>
        <p:spPr>
          <a:xfrm>
            <a:off x="1311276" y="2400300"/>
            <a:ext cx="9158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Perspectives et améliorations futures:</a:t>
            </a:r>
          </a:p>
        </p:txBody>
      </p:sp>
    </p:spTree>
    <p:extLst>
      <p:ext uri="{BB962C8B-B14F-4D97-AF65-F5344CB8AC3E}">
        <p14:creationId xmlns:p14="http://schemas.microsoft.com/office/powerpoint/2010/main" val="618584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8">
            <a:extLst>
              <a:ext uri="{FF2B5EF4-FFF2-40B4-BE49-F238E27FC236}">
                <a16:creationId xmlns:a16="http://schemas.microsoft.com/office/drawing/2014/main" id="{26729FB5-3ACA-4D5E-B243-5C2BFE954FAC}"/>
              </a:ext>
            </a:extLst>
          </p:cNvPr>
          <p:cNvSpPr txBox="1"/>
          <p:nvPr/>
        </p:nvSpPr>
        <p:spPr>
          <a:xfrm>
            <a:off x="4344765" y="983765"/>
            <a:ext cx="4640321" cy="7383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grpSp>
        <p:nvGrpSpPr>
          <p:cNvPr id="14" name="Group 3">
            <a:extLst>
              <a:ext uri="{FF2B5EF4-FFF2-40B4-BE49-F238E27FC236}">
                <a16:creationId xmlns:a16="http://schemas.microsoft.com/office/drawing/2014/main" id="{32B7301C-B640-47E0-8E8D-CEFCB785DF7D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9A8EC277-48BF-462E-A298-BC91588269F4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D2B22AAB-9B79-4777-87CC-D637EC5824AB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" name="Freeform 2">
            <a:extLst>
              <a:ext uri="{FF2B5EF4-FFF2-40B4-BE49-F238E27FC236}">
                <a16:creationId xmlns:a16="http://schemas.microsoft.com/office/drawing/2014/main" id="{8D51A461-2AA8-4AE3-A96A-F8CB549A6AEC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6">
            <a:extLst>
              <a:ext uri="{FF2B5EF4-FFF2-40B4-BE49-F238E27FC236}">
                <a16:creationId xmlns:a16="http://schemas.microsoft.com/office/drawing/2014/main" id="{1F1A4894-B3F3-4ECC-B787-D753BA75274B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EF0F7E62-A8C8-4486-AC23-FEA2D2ADBC36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6934A807-46BA-430E-BE8B-5A225CA77A5F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sz="2400" dirty="0">
                  <a:solidFill>
                    <a:schemeClr val="bg1"/>
                  </a:solidFill>
                </a:rPr>
                <a:t>Appréciation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21D8A240-6285-4732-A089-742274874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229100"/>
            <a:ext cx="10974479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La conception d'un système IoT complet (du matériel au logiciel).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Maîtrise de la communication bidirectionnelle en temps réel.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Développement Full-Stack (Node.js, Vue.js, ESP8266).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3B60A3-EF5E-4556-A347-246965D5A160}"/>
              </a:ext>
            </a:extLst>
          </p:cNvPr>
          <p:cNvSpPr txBox="1"/>
          <p:nvPr/>
        </p:nvSpPr>
        <p:spPr>
          <a:xfrm>
            <a:off x="1132114" y="3086100"/>
            <a:ext cx="91585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Google Sans Text"/>
              </a:rPr>
              <a:t>Ce projet nous a permis d’apprendre:</a:t>
            </a:r>
          </a:p>
        </p:txBody>
      </p:sp>
    </p:spTree>
    <p:extLst>
      <p:ext uri="{BB962C8B-B14F-4D97-AF65-F5344CB8AC3E}">
        <p14:creationId xmlns:p14="http://schemas.microsoft.com/office/powerpoint/2010/main" val="1237874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8">
            <a:extLst>
              <a:ext uri="{FF2B5EF4-FFF2-40B4-BE49-F238E27FC236}">
                <a16:creationId xmlns:a16="http://schemas.microsoft.com/office/drawing/2014/main" id="{26729FB5-3ACA-4D5E-B243-5C2BFE954FAC}"/>
              </a:ext>
            </a:extLst>
          </p:cNvPr>
          <p:cNvSpPr txBox="1"/>
          <p:nvPr/>
        </p:nvSpPr>
        <p:spPr>
          <a:xfrm>
            <a:off x="4344765" y="983765"/>
            <a:ext cx="4640321" cy="7383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grpSp>
        <p:nvGrpSpPr>
          <p:cNvPr id="14" name="Group 3">
            <a:extLst>
              <a:ext uri="{FF2B5EF4-FFF2-40B4-BE49-F238E27FC236}">
                <a16:creationId xmlns:a16="http://schemas.microsoft.com/office/drawing/2014/main" id="{32B7301C-B640-47E0-8E8D-CEFCB785DF7D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9A8EC277-48BF-462E-A298-BC91588269F4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D2B22AAB-9B79-4777-87CC-D637EC5824AB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" name="Freeform 2">
            <a:extLst>
              <a:ext uri="{FF2B5EF4-FFF2-40B4-BE49-F238E27FC236}">
                <a16:creationId xmlns:a16="http://schemas.microsoft.com/office/drawing/2014/main" id="{8D51A461-2AA8-4AE3-A96A-F8CB549A6AEC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6">
            <a:extLst>
              <a:ext uri="{FF2B5EF4-FFF2-40B4-BE49-F238E27FC236}">
                <a16:creationId xmlns:a16="http://schemas.microsoft.com/office/drawing/2014/main" id="{1F1A4894-B3F3-4ECC-B787-D753BA75274B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EF0F7E62-A8C8-4486-AC23-FEA2D2ADBC36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6934A807-46BA-430E-BE8B-5A225CA77A5F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sz="2400" dirty="0">
                  <a:solidFill>
                    <a:schemeClr val="bg1"/>
                  </a:solidFill>
                </a:rPr>
                <a:t>Annexe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25278D6-29D5-43E6-8275-09EAA1A4781D}"/>
              </a:ext>
            </a:extLst>
          </p:cNvPr>
          <p:cNvSpPr txBox="1"/>
          <p:nvPr/>
        </p:nvSpPr>
        <p:spPr>
          <a:xfrm>
            <a:off x="985384" y="2324100"/>
            <a:ext cx="13416415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b="1" dirty="0" err="1">
                <a:solidFill>
                  <a:schemeClr val="bg1"/>
                </a:solidFill>
              </a:rPr>
              <a:t>Vue.js:</a:t>
            </a:r>
            <a:r>
              <a:rPr lang="fr-FR" b="1" dirty="0" err="1">
                <a:solidFill>
                  <a:schemeClr val="bg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fr-FR" b="1" dirty="0">
                <a:solidFill>
                  <a:schemeClr val="bg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://vuejs.org/guide/introduction.html</a:t>
            </a:r>
            <a:endParaRPr lang="fr-FR" b="1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bg1"/>
                </a:solidFill>
              </a:rPr>
              <a:t>Express.js (Serveur)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b="1" dirty="0">
                <a:solidFill>
                  <a:schemeClr val="bg1"/>
                </a:solidFill>
              </a:rPr>
              <a:t>: </a:t>
            </a:r>
            <a:r>
              <a:rPr lang="fr-FR" b="1" dirty="0">
                <a:solidFill>
                  <a:schemeClr val="bg2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https://expressjs.com/</a:t>
            </a:r>
            <a:endParaRPr lang="fr-FR" b="1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bg1"/>
                </a:solidFill>
              </a:rPr>
              <a:t>Guide pour </a:t>
            </a:r>
            <a:r>
              <a:rPr lang="fr-FR" b="1" dirty="0" err="1">
                <a:solidFill>
                  <a:schemeClr val="bg1"/>
                </a:solidFill>
              </a:rPr>
              <a:t>implementer</a:t>
            </a:r>
            <a:r>
              <a:rPr lang="fr-FR" b="1" dirty="0">
                <a:solidFill>
                  <a:schemeClr val="bg1"/>
                </a:solidFill>
              </a:rPr>
              <a:t> relation </a:t>
            </a:r>
            <a:r>
              <a:rPr lang="fr-FR" b="1" dirty="0" err="1">
                <a:solidFill>
                  <a:schemeClr val="bg1"/>
                </a:solidFill>
              </a:rPr>
              <a:t>biderectionnel</a:t>
            </a:r>
            <a:r>
              <a:rPr lang="fr-FR" b="1" dirty="0">
                <a:solidFill>
                  <a:schemeClr val="bg1"/>
                </a:solidFill>
              </a:rPr>
              <a:t> :</a:t>
            </a:r>
            <a:r>
              <a:rPr lang="fr-FR" b="1" dirty="0">
                <a:solidFill>
                  <a:schemeClr val="bg2">
                    <a:lumMod val="7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https://socket.io/docs/v4/</a:t>
            </a:r>
            <a:endParaRPr lang="fr-FR" b="1" dirty="0">
              <a:solidFill>
                <a:schemeClr val="bg2">
                  <a:lumMod val="75000"/>
                </a:schemeClr>
              </a:solidFill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Documentation pour permettre à Node.js de lire les données venant de l'USB de l'ESP8266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https://serialport.io/docs/</a:t>
            </a:r>
            <a:r>
              <a:rPr lang="fr-FR" altLang="fr-F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fr-FR" altLang="fr-FR" b="1" dirty="0">
                <a:solidFill>
                  <a:schemeClr val="bg1"/>
                </a:solidFill>
                <a:latin typeface="Arial" panose="020B0604020202020204" pitchFamily="34" charset="0"/>
              </a:rPr>
              <a:t>Figure 2: </a:t>
            </a:r>
            <a:r>
              <a:rPr lang="fr-FR" altLang="fr-F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https://medium.com/nerd-for-tech/monitoring-temperature-and-humidity-using-esp8266-and-dht11-sensor-with-aws-iot-core-service-12a9111d144c</a:t>
            </a:r>
            <a:endParaRPr lang="fr-FR" altLang="fr-FR" b="1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fr-FR" altLang="fr-FR" b="1" dirty="0">
                <a:solidFill>
                  <a:schemeClr val="bg1"/>
                </a:solidFill>
                <a:latin typeface="Arial" panose="020B0604020202020204" pitchFamily="34" charset="0"/>
              </a:rPr>
              <a:t>Figure 3 :</a:t>
            </a:r>
            <a:r>
              <a:rPr lang="fr-FR" altLang="fr-F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https://esp32lab.com/boutique/nodemcu-v3-esp8266/</a:t>
            </a:r>
            <a:endParaRPr lang="fr-FR" altLang="fr-FR" b="1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fr-FR" altLang="fr-FR" b="1" dirty="0">
                <a:solidFill>
                  <a:schemeClr val="bg1"/>
                </a:solidFill>
                <a:latin typeface="Arial" panose="020B0604020202020204" pitchFamily="34" charset="0"/>
              </a:rPr>
              <a:t>Figure 4:</a:t>
            </a:r>
            <a:r>
              <a:rPr lang="fr-FR" altLang="fr-FR" b="1" dirty="0">
                <a:solidFill>
                  <a:srgbClr val="0D2E46"/>
                </a:solidFill>
                <a:latin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https://novatronicec.com/</a:t>
            </a:r>
            <a:r>
              <a:rPr lang="fr-FR" altLang="fr-FR" b="1" dirty="0" err="1">
                <a:solidFill>
                  <a:srgbClr val="0D2E46"/>
                </a:solidFill>
                <a:latin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index.php</a:t>
            </a:r>
            <a:r>
              <a:rPr lang="fr-FR" altLang="fr-FR" b="1" dirty="0">
                <a:solidFill>
                  <a:srgbClr val="0D2E46"/>
                </a:solidFill>
                <a:latin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fr-FR" altLang="fr-FR" b="1" dirty="0" err="1">
                <a:solidFill>
                  <a:srgbClr val="0D2E46"/>
                </a:solidFill>
                <a:latin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</a:t>
            </a:r>
            <a:r>
              <a:rPr lang="fr-FR" altLang="fr-F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/dht11-sensor-temperatura-y-humedad/</a:t>
            </a:r>
            <a:endParaRPr lang="fr-FR" altLang="fr-FR" b="1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fr-FR" altLang="fr-FR" b="1" dirty="0">
                <a:solidFill>
                  <a:schemeClr val="bg1"/>
                </a:solidFill>
                <a:latin typeface="Arial" panose="020B0604020202020204" pitchFamily="34" charset="0"/>
              </a:rPr>
              <a:t>Figure 5:logo de Node.js : </a:t>
            </a:r>
            <a:r>
              <a:rPr lang="fr-FR" altLang="fr-F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https://github.com/nodeclipse</a:t>
            </a:r>
            <a:endParaRPr lang="fr-FR" altLang="fr-FR" b="1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fr-FR" altLang="fr-FR" b="1" dirty="0">
                <a:solidFill>
                  <a:schemeClr val="bg1"/>
                </a:solidFill>
                <a:latin typeface="Arial" panose="020B0604020202020204" pitchFamily="34" charset="0"/>
              </a:rPr>
              <a:t>Figure 6:logo </a:t>
            </a:r>
            <a:r>
              <a:rPr lang="fr-FR" altLang="fr-FR" b="1" dirty="0" err="1">
                <a:solidFill>
                  <a:schemeClr val="bg1"/>
                </a:solidFill>
                <a:latin typeface="Arial" panose="020B0604020202020204" pitchFamily="34" charset="0"/>
              </a:rPr>
              <a:t>Express.js:</a:t>
            </a:r>
            <a:r>
              <a:rPr lang="fr-FR" altLang="fr-FR" b="1" dirty="0" err="1">
                <a:solidFill>
                  <a:schemeClr val="bg1"/>
                </a:solidFill>
                <a:latin typeface="Arial" panose="020B0604020202020204" pitchFamily="34" charset="0"/>
                <a:hlinkClick r:id="rId12"/>
              </a:rPr>
              <a:t>https</a:t>
            </a:r>
            <a:r>
              <a:rPr lang="fr-FR" altLang="fr-FR" b="1" dirty="0">
                <a:solidFill>
                  <a:srgbClr val="356A95"/>
                </a:solidFill>
                <a:latin typeface="Arial" panose="020B0604020202020204" pitchFamily="34" charset="0"/>
                <a:hlinkClick r:id="rId12"/>
              </a:rPr>
              <a:t>://ajeetchaulagain.com/blog/express-</a:t>
            </a:r>
            <a:r>
              <a:rPr lang="fr-FR" altLang="fr-FR" b="1" dirty="0" err="1">
                <a:solidFill>
                  <a:srgbClr val="356A95"/>
                </a:solidFill>
                <a:latin typeface="Arial" panose="020B0604020202020204" pitchFamily="34" charset="0"/>
                <a:hlinkClick r:id="rId12"/>
              </a:rPr>
              <a:t>js</a:t>
            </a:r>
            <a:r>
              <a:rPr lang="fr-FR" altLang="fr-FR" b="1" dirty="0">
                <a:solidFill>
                  <a:srgbClr val="356A95"/>
                </a:solidFill>
                <a:latin typeface="Arial" panose="020B0604020202020204" pitchFamily="34" charset="0"/>
                <a:hlinkClick r:id="rId12"/>
              </a:rPr>
              <a:t>-</a:t>
            </a:r>
            <a:r>
              <a:rPr lang="fr-FR" altLang="fr-FR" b="1" dirty="0" err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hlinkClick r:id="rId12"/>
              </a:rPr>
              <a:t>getting-started</a:t>
            </a:r>
            <a:endParaRPr lang="fr-FR" altLang="fr-FR" b="1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fr-FR" altLang="fr-FR" b="1" dirty="0">
                <a:solidFill>
                  <a:schemeClr val="bg1"/>
                </a:solidFill>
                <a:latin typeface="Arial" panose="020B0604020202020204" pitchFamily="34" charset="0"/>
              </a:rPr>
              <a:t>Figure 8:logo </a:t>
            </a:r>
            <a:r>
              <a:rPr lang="fr-FR" altLang="fr-FR" b="1" dirty="0" err="1">
                <a:solidFill>
                  <a:schemeClr val="bg1"/>
                </a:solidFill>
                <a:latin typeface="Arial" panose="020B0604020202020204" pitchFamily="34" charset="0"/>
              </a:rPr>
              <a:t>vue.js:</a:t>
            </a:r>
            <a:r>
              <a:rPr lang="fr-FR" altLang="fr-FR" b="1" dirty="0" err="1">
                <a:solidFill>
                  <a:srgbClr val="0D2E46"/>
                </a:solidFill>
                <a:latin typeface="Arial" panose="020B060402020202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fr-FR" altLang="fr-F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://fr.wikipedia.org/wiki/Vue.js</a:t>
            </a:r>
            <a:endParaRPr lang="fr-FR" altLang="fr-FR" b="1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fr-FR" altLang="fr-FR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763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8">
            <a:extLst>
              <a:ext uri="{FF2B5EF4-FFF2-40B4-BE49-F238E27FC236}">
                <a16:creationId xmlns:a16="http://schemas.microsoft.com/office/drawing/2014/main" id="{26729FB5-3ACA-4D5E-B243-5C2BFE954FAC}"/>
              </a:ext>
            </a:extLst>
          </p:cNvPr>
          <p:cNvSpPr txBox="1"/>
          <p:nvPr/>
        </p:nvSpPr>
        <p:spPr>
          <a:xfrm>
            <a:off x="4344765" y="983765"/>
            <a:ext cx="4640321" cy="7383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grpSp>
        <p:nvGrpSpPr>
          <p:cNvPr id="14" name="Group 3">
            <a:extLst>
              <a:ext uri="{FF2B5EF4-FFF2-40B4-BE49-F238E27FC236}">
                <a16:creationId xmlns:a16="http://schemas.microsoft.com/office/drawing/2014/main" id="{32B7301C-B640-47E0-8E8D-CEFCB785DF7D}"/>
              </a:ext>
            </a:extLst>
          </p:cNvPr>
          <p:cNvGrpSpPr/>
          <p:nvPr/>
        </p:nvGrpSpPr>
        <p:grpSpPr>
          <a:xfrm>
            <a:off x="1877173" y="1028700"/>
            <a:ext cx="2163259" cy="648517"/>
            <a:chOff x="-11924" y="-23669"/>
            <a:chExt cx="569747" cy="194472"/>
          </a:xfrm>
        </p:grpSpPr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9A8EC277-48BF-462E-A298-BC91588269F4}"/>
                </a:ext>
              </a:extLst>
            </p:cNvPr>
            <p:cNvSpPr/>
            <p:nvPr/>
          </p:nvSpPr>
          <p:spPr>
            <a:xfrm>
              <a:off x="-11924" y="-602"/>
              <a:ext cx="565468" cy="156372"/>
            </a:xfrm>
            <a:custGeom>
              <a:avLst/>
              <a:gdLst/>
              <a:ahLst/>
              <a:cxnLst/>
              <a:rect l="l" t="t" r="r" b="b"/>
              <a:pathLst>
                <a:path w="565468" h="156372">
                  <a:moveTo>
                    <a:pt x="78186" y="0"/>
                  </a:moveTo>
                  <a:lnTo>
                    <a:pt x="487282" y="0"/>
                  </a:lnTo>
                  <a:cubicBezTo>
                    <a:pt x="508018" y="0"/>
                    <a:pt x="527905" y="8237"/>
                    <a:pt x="542568" y="22900"/>
                  </a:cubicBezTo>
                  <a:cubicBezTo>
                    <a:pt x="557231" y="37563"/>
                    <a:pt x="565468" y="57450"/>
                    <a:pt x="565468" y="78186"/>
                  </a:cubicBezTo>
                  <a:lnTo>
                    <a:pt x="565468" y="78186"/>
                  </a:lnTo>
                  <a:cubicBezTo>
                    <a:pt x="565468" y="98922"/>
                    <a:pt x="557231" y="118809"/>
                    <a:pt x="542568" y="133472"/>
                  </a:cubicBezTo>
                  <a:cubicBezTo>
                    <a:pt x="527905" y="148134"/>
                    <a:pt x="508018" y="156372"/>
                    <a:pt x="487282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D2B22AAB-9B79-4777-87CC-D637EC5824AB}"/>
                </a:ext>
              </a:extLst>
            </p:cNvPr>
            <p:cNvSpPr txBox="1"/>
            <p:nvPr/>
          </p:nvSpPr>
          <p:spPr>
            <a:xfrm>
              <a:off x="-7645" y="-23669"/>
              <a:ext cx="565468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 err="1">
                  <a:solidFill>
                    <a:srgbClr val="2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Accueil</a:t>
              </a:r>
              <a:endParaRPr lang="en-US" sz="2499" dirty="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" name="Freeform 2">
            <a:extLst>
              <a:ext uri="{FF2B5EF4-FFF2-40B4-BE49-F238E27FC236}">
                <a16:creationId xmlns:a16="http://schemas.microsoft.com/office/drawing/2014/main" id="{8D51A461-2AA8-4AE3-A96A-F8CB549A6AEC}"/>
              </a:ext>
            </a:extLst>
          </p:cNvPr>
          <p:cNvSpPr/>
          <p:nvPr/>
        </p:nvSpPr>
        <p:spPr>
          <a:xfrm>
            <a:off x="1014414" y="1097518"/>
            <a:ext cx="593724" cy="593724"/>
          </a:xfrm>
          <a:custGeom>
            <a:avLst/>
            <a:gdLst/>
            <a:ahLst/>
            <a:cxnLst/>
            <a:rect l="l" t="t" r="r" b="b"/>
            <a:pathLst>
              <a:path w="593724" h="593724">
                <a:moveTo>
                  <a:pt x="0" y="0"/>
                </a:moveTo>
                <a:lnTo>
                  <a:pt x="593724" y="0"/>
                </a:lnTo>
                <a:lnTo>
                  <a:pt x="593724" y="593724"/>
                </a:lnTo>
                <a:lnTo>
                  <a:pt x="0" y="593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6">
            <a:extLst>
              <a:ext uri="{FF2B5EF4-FFF2-40B4-BE49-F238E27FC236}">
                <a16:creationId xmlns:a16="http://schemas.microsoft.com/office/drawing/2014/main" id="{1F1A4894-B3F3-4ECC-B787-D753BA75274B}"/>
              </a:ext>
            </a:extLst>
          </p:cNvPr>
          <p:cNvGrpSpPr/>
          <p:nvPr/>
        </p:nvGrpSpPr>
        <p:grpSpPr>
          <a:xfrm>
            <a:off x="4344765" y="983765"/>
            <a:ext cx="3961035" cy="738385"/>
            <a:chOff x="0" y="-19362"/>
            <a:chExt cx="733368" cy="194472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EF0F7E62-A8C8-4486-AC23-FEA2D2ADBC36}"/>
                </a:ext>
              </a:extLst>
            </p:cNvPr>
            <p:cNvSpPr/>
            <p:nvPr/>
          </p:nvSpPr>
          <p:spPr>
            <a:xfrm>
              <a:off x="1028" y="2402"/>
              <a:ext cx="732340" cy="156372"/>
            </a:xfrm>
            <a:custGeom>
              <a:avLst/>
              <a:gdLst/>
              <a:ahLst/>
              <a:cxnLst/>
              <a:rect l="l" t="t" r="r" b="b"/>
              <a:pathLst>
                <a:path w="732340" h="156372">
                  <a:moveTo>
                    <a:pt x="78186" y="0"/>
                  </a:moveTo>
                  <a:lnTo>
                    <a:pt x="654154" y="0"/>
                  </a:lnTo>
                  <a:cubicBezTo>
                    <a:pt x="674890" y="0"/>
                    <a:pt x="694777" y="8237"/>
                    <a:pt x="709440" y="22900"/>
                  </a:cubicBezTo>
                  <a:cubicBezTo>
                    <a:pt x="724103" y="37563"/>
                    <a:pt x="732340" y="57450"/>
                    <a:pt x="732340" y="78186"/>
                  </a:cubicBezTo>
                  <a:lnTo>
                    <a:pt x="732340" y="78186"/>
                  </a:lnTo>
                  <a:cubicBezTo>
                    <a:pt x="732340" y="98922"/>
                    <a:pt x="724103" y="118809"/>
                    <a:pt x="709440" y="133472"/>
                  </a:cubicBezTo>
                  <a:cubicBezTo>
                    <a:pt x="694777" y="148134"/>
                    <a:pt x="674890" y="156372"/>
                    <a:pt x="654154" y="156372"/>
                  </a:cubicBezTo>
                  <a:lnTo>
                    <a:pt x="78186" y="156372"/>
                  </a:lnTo>
                  <a:cubicBezTo>
                    <a:pt x="57450" y="156372"/>
                    <a:pt x="37563" y="148134"/>
                    <a:pt x="22900" y="133472"/>
                  </a:cubicBezTo>
                  <a:cubicBezTo>
                    <a:pt x="8237" y="118809"/>
                    <a:pt x="0" y="98922"/>
                    <a:pt x="0" y="78186"/>
                  </a:cubicBezTo>
                  <a:lnTo>
                    <a:pt x="0" y="78186"/>
                  </a:lnTo>
                  <a:cubicBezTo>
                    <a:pt x="0" y="57450"/>
                    <a:pt x="8237" y="37563"/>
                    <a:pt x="22900" y="22900"/>
                  </a:cubicBezTo>
                  <a:cubicBezTo>
                    <a:pt x="37563" y="8237"/>
                    <a:pt x="57450" y="0"/>
                    <a:pt x="78186" y="0"/>
                  </a:cubicBez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6934A807-46BA-430E-BE8B-5A225CA77A5F}"/>
                </a:ext>
              </a:extLst>
            </p:cNvPr>
            <p:cNvSpPr txBox="1"/>
            <p:nvPr/>
          </p:nvSpPr>
          <p:spPr>
            <a:xfrm>
              <a:off x="0" y="-19362"/>
              <a:ext cx="732340" cy="19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fr-FR" sz="2400" dirty="0" err="1">
                  <a:solidFill>
                    <a:schemeClr val="bg1"/>
                  </a:solidFill>
                </a:rPr>
                <a:t>Appreciation</a:t>
              </a:r>
              <a:endParaRPr lang="en-US" sz="2499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C0772AE-E725-4C1C-90A5-0A5550FC7078}"/>
              </a:ext>
            </a:extLst>
          </p:cNvPr>
          <p:cNvSpPr txBox="1"/>
          <p:nvPr/>
        </p:nvSpPr>
        <p:spPr>
          <a:xfrm>
            <a:off x="4579257" y="4960648"/>
            <a:ext cx="9158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>
                <a:solidFill>
                  <a:schemeClr val="bg1"/>
                </a:solidFill>
                <a:latin typeface="Bradley Hand ITC" panose="03070402050302030203" pitchFamily="66" charset="0"/>
              </a:rPr>
              <a:t>MERCI DE VOTRE ATTENTION !</a:t>
            </a:r>
          </a:p>
        </p:txBody>
      </p:sp>
    </p:spTree>
    <p:extLst>
      <p:ext uri="{BB962C8B-B14F-4D97-AF65-F5344CB8AC3E}">
        <p14:creationId xmlns:p14="http://schemas.microsoft.com/office/powerpoint/2010/main" val="409098354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2178</TotalTime>
  <Words>986</Words>
  <Application>Microsoft Office PowerPoint</Application>
  <PresentationFormat>Custom</PresentationFormat>
  <Paragraphs>195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Century</vt:lpstr>
      <vt:lpstr>Wingdings 3</vt:lpstr>
      <vt:lpstr>Calibri</vt:lpstr>
      <vt:lpstr>Wingdings</vt:lpstr>
      <vt:lpstr>Montserrat</vt:lpstr>
      <vt:lpstr>Oswald Bold</vt:lpstr>
      <vt:lpstr>Bradley Hand ITC</vt:lpstr>
      <vt:lpstr>Century Gothic</vt:lpstr>
      <vt:lpstr>Arial</vt:lpstr>
      <vt:lpstr>Times New Roman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and Green Modern Minimal Livestock Farming Presentation</dc:title>
  <dc:creator>Dragon Fly</dc:creator>
  <cp:lastModifiedBy>Dragon</cp:lastModifiedBy>
  <cp:revision>133</cp:revision>
  <dcterms:created xsi:type="dcterms:W3CDTF">2006-08-16T00:00:00Z</dcterms:created>
  <dcterms:modified xsi:type="dcterms:W3CDTF">2026-03-10T00:46:42Z</dcterms:modified>
  <dc:identifier>DAG5t9vDpYg</dc:identifier>
</cp:coreProperties>
</file>